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unito" pitchFamily="2" charset="0"/>
      <p:regular r:id="rId11"/>
      <p:bold r:id="rId12"/>
      <p:italic r:id="rId13"/>
      <p:boldItalic r:id="rId14"/>
    </p:embeddedFont>
    <p:embeddedFont>
      <p:font typeface="Nunito SemiBold" pitchFamily="2" charset="0"/>
      <p:regular r:id="rId15"/>
      <p:bold r:id="rId16"/>
      <p:italic r:id="rId17"/>
      <p:boldItalic r:id="rId18"/>
    </p:embeddedFont>
    <p:embeddedFont>
      <p:font typeface="PT Sans" panose="020B0503020203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65834-C568-2B5D-EC2B-0F8647ECB8A0}" v="26" dt="2026-02-11T06:23:48.409"/>
    <p1510:client id="{C4DA3612-97E7-70AE-02E5-F5B99EB9F2C7}" v="141" dt="2026-02-11T06:36:24.628"/>
    <p1510:client id="{D4356E85-441F-A668-27B9-6ACFC65CCB9D}" v="5" dt="2026-02-11T06:37:38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c940e1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3bdc940e1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bdc940e1f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icket-to-test-ai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5952649" y="462964"/>
            <a:ext cx="5632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"/>
              <a:buNone/>
            </a:pPr>
            <a:r>
              <a:rPr lang="en-US" sz="47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Ticket-to-Test AI</a:t>
            </a:r>
            <a:endParaRPr sz="4700" b="1" i="0" u="none" strike="noStrike" cap="none"/>
          </a:p>
        </p:txBody>
      </p:sp>
      <p:sp>
        <p:nvSpPr>
          <p:cNvPr id="46" name="Google Shape;46;p10"/>
          <p:cNvSpPr/>
          <p:nvPr/>
        </p:nvSpPr>
        <p:spPr>
          <a:xfrm>
            <a:off x="5952650" y="1844300"/>
            <a:ext cx="2882700" cy="885600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6119150" y="1997600"/>
            <a:ext cx="25497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00"/>
              <a:buFont typeface="PT Sans"/>
              <a:buNone/>
            </a:pPr>
            <a:r>
              <a:rPr lang="en-US" sz="2000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AGENTIC QA COPILOT</a:t>
            </a:r>
            <a:endParaRPr sz="2000" b="1" i="0" u="none" strike="noStrike" cap="none"/>
          </a:p>
        </p:txBody>
      </p:sp>
      <p:sp>
        <p:nvSpPr>
          <p:cNvPr id="48" name="Google Shape;48;p10"/>
          <p:cNvSpPr/>
          <p:nvPr/>
        </p:nvSpPr>
        <p:spPr>
          <a:xfrm>
            <a:off x="5952650" y="3101950"/>
            <a:ext cx="7713900" cy="2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9574"/>
              </a:lnSpc>
              <a:buClr>
                <a:srgbClr val="00002E"/>
              </a:buClr>
              <a:buSzPts val="2350"/>
            </a:pPr>
            <a:r>
              <a:rPr lang="en-US" sz="26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From Jira ticket to complete test suite </a:t>
            </a:r>
            <a:r>
              <a:rPr lang="en-US" sz="265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within 5 minutes</a:t>
            </a:r>
            <a:r>
              <a:rPr lang="en-US" sz="26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 </a:t>
            </a:r>
            <a:r>
              <a:rPr lang="en-US" sz="2650" b="0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Transform your QA workflow with autonomous AI agents that think, plan, and self-correct.</a:t>
            </a:r>
            <a:endParaRPr sz="2650" b="0" i="0" u="none" strike="noStrike" cap="none" dirty="0"/>
          </a:p>
        </p:txBody>
      </p:sp>
      <p:sp>
        <p:nvSpPr>
          <p:cNvPr id="49" name="Google Shape;49;p10"/>
          <p:cNvSpPr/>
          <p:nvPr/>
        </p:nvSpPr>
        <p:spPr>
          <a:xfrm>
            <a:off x="12914562" y="7663987"/>
            <a:ext cx="1715888" cy="565613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5;p10">
            <a:extLst>
              <a:ext uri="{FF2B5EF4-FFF2-40B4-BE49-F238E27FC236}">
                <a16:creationId xmlns:a16="http://schemas.microsoft.com/office/drawing/2014/main" id="{DABC862F-5A1D-1B6E-132B-20DA00151B35}"/>
              </a:ext>
            </a:extLst>
          </p:cNvPr>
          <p:cNvSpPr/>
          <p:nvPr/>
        </p:nvSpPr>
        <p:spPr>
          <a:xfrm>
            <a:off x="10767534" y="6420851"/>
            <a:ext cx="3717976" cy="1804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000"/>
              </a:lnSpc>
              <a:buClr>
                <a:srgbClr val="00002E"/>
              </a:buClr>
              <a:buSzPts val="4400"/>
            </a:pPr>
            <a:r>
              <a:rPr lang="en-US" sz="2000" b="1" dirty="0">
                <a:solidFill>
                  <a:srgbClr val="00002E"/>
                </a:solidFill>
                <a:latin typeface="Nunito"/>
              </a:rPr>
              <a:t>Team Name:</a:t>
            </a:r>
            <a:r>
              <a:rPr lang="en-US" sz="2000" dirty="0">
                <a:solidFill>
                  <a:srgbClr val="00002E"/>
                </a:solidFill>
                <a:latin typeface="Nunito"/>
              </a:rPr>
              <a:t>       </a:t>
            </a:r>
            <a:r>
              <a:rPr lang="en-US" sz="2000" i="1" dirty="0" err="1">
                <a:solidFill>
                  <a:srgbClr val="00002E"/>
                </a:solidFill>
                <a:latin typeface="Nunito"/>
              </a:rPr>
              <a:t>QualityOps</a:t>
            </a:r>
            <a:br>
              <a:rPr lang="en-US" sz="2000" dirty="0">
                <a:latin typeface="Nunito"/>
              </a:rPr>
            </a:br>
            <a:r>
              <a:rPr lang="en-US" sz="2000" b="1" dirty="0">
                <a:solidFill>
                  <a:srgbClr val="00002E"/>
                </a:solidFill>
                <a:latin typeface="Nunito"/>
              </a:rPr>
              <a:t>Team Members:</a:t>
            </a:r>
            <a:r>
              <a:rPr lang="en-US" sz="2000">
                <a:solidFill>
                  <a:srgbClr val="00002E"/>
                </a:solidFill>
                <a:latin typeface="Nunito"/>
              </a:rPr>
              <a:t> Sahil Chauhan</a:t>
            </a:r>
            <a:br>
              <a:rPr lang="en-US" sz="2000" dirty="0">
                <a:latin typeface="Nunito"/>
              </a:rPr>
            </a:br>
            <a:r>
              <a:rPr lang="en-US" sz="2000" dirty="0">
                <a:solidFill>
                  <a:srgbClr val="00002E"/>
                </a:solidFill>
                <a:latin typeface="Nunito"/>
              </a:rPr>
              <a:t>                               Sruti Daga</a:t>
            </a:r>
            <a:br>
              <a:rPr lang="en-US" sz="2000" dirty="0">
                <a:latin typeface="Nunito"/>
              </a:rPr>
            </a:br>
            <a:r>
              <a:rPr lang="en-US" sz="2000" dirty="0">
                <a:solidFill>
                  <a:srgbClr val="00002E"/>
                </a:solidFill>
                <a:latin typeface="Nunito"/>
              </a:rPr>
              <a:t>                               Yash Sharma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837724" y="691039"/>
            <a:ext cx="1817132" cy="495538"/>
          </a:xfrm>
          <a:prstGeom prst="roundRect">
            <a:avLst>
              <a:gd name="adj" fmla="val 57969"/>
            </a:avLst>
          </a:prstGeom>
          <a:noFill/>
          <a:ln w="228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173" y="843082"/>
            <a:ext cx="191453" cy="19145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/>
          <p:nvPr/>
        </p:nvSpPr>
        <p:spPr>
          <a:xfrm>
            <a:off x="1305639" y="728543"/>
            <a:ext cx="1782841" cy="491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500"/>
              <a:buFont typeface="PT Sans"/>
              <a:buNone/>
            </a:pPr>
            <a:r>
              <a:rPr lang="en-US" sz="1500" b="0" i="0" u="none" strike="noStrike" cap="none">
                <a:solidFill>
                  <a:srgbClr val="2D4DF2"/>
                </a:solidFill>
                <a:latin typeface="PT Sans"/>
                <a:ea typeface="PT Sans"/>
                <a:cs typeface="PT Sans"/>
                <a:sym typeface="PT Sans"/>
              </a:rPr>
              <a:t>THE PROBLEM</a:t>
            </a:r>
            <a:endParaRPr sz="1500" b="0" i="0" u="none" strike="noStrike" cap="none"/>
          </a:p>
        </p:txBody>
      </p:sp>
      <p:sp>
        <p:nvSpPr>
          <p:cNvPr id="58" name="Google Shape;58;p11"/>
          <p:cNvSpPr/>
          <p:nvPr/>
        </p:nvSpPr>
        <p:spPr>
          <a:xfrm>
            <a:off x="837724" y="1282303"/>
            <a:ext cx="1063883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"/>
              <a:buNone/>
            </a:pPr>
            <a:r>
              <a:rPr lang="en-US" sz="44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QA Teams Are Drowning in Manual Work</a:t>
            </a:r>
            <a:endParaRPr sz="4400" b="0" i="0" u="none" strike="noStrike" cap="none"/>
          </a:p>
        </p:txBody>
      </p:sp>
      <p:sp>
        <p:nvSpPr>
          <p:cNvPr id="59" name="Google Shape;59;p11"/>
          <p:cNvSpPr/>
          <p:nvPr/>
        </p:nvSpPr>
        <p:spPr>
          <a:xfrm>
            <a:off x="837724" y="2614493"/>
            <a:ext cx="2973110" cy="2264688"/>
          </a:xfrm>
          <a:prstGeom prst="roundRect">
            <a:avLst>
              <a:gd name="adj" fmla="val 15855"/>
            </a:avLst>
          </a:prstGeom>
          <a:solidFill>
            <a:srgbClr val="F3F3FF"/>
          </a:solidFill>
          <a:ln w="228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1099899" y="2876669"/>
            <a:ext cx="2448758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"/>
              <a:buNone/>
            </a:pPr>
            <a:r>
              <a:rPr lang="en-US" sz="22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2-3 Hours</a:t>
            </a:r>
            <a:endParaRPr sz="2200" b="0" i="0" u="none" strike="noStrike" cap="none"/>
          </a:p>
        </p:txBody>
      </p:sp>
      <p:sp>
        <p:nvSpPr>
          <p:cNvPr id="61" name="Google Shape;61;p11"/>
          <p:cNvSpPr/>
          <p:nvPr/>
        </p:nvSpPr>
        <p:spPr>
          <a:xfrm>
            <a:off x="1099899" y="3467933"/>
            <a:ext cx="2448758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lang="en-US" sz="18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Wasted per ticket writing test cases manually</a:t>
            </a:r>
            <a:endParaRPr sz="1850" b="0" i="0" u="none" strike="noStrike" cap="none"/>
          </a:p>
        </p:txBody>
      </p:sp>
      <p:sp>
        <p:nvSpPr>
          <p:cNvPr id="62" name="Google Shape;62;p11"/>
          <p:cNvSpPr/>
          <p:nvPr/>
        </p:nvSpPr>
        <p:spPr>
          <a:xfrm>
            <a:off x="4050149" y="2614493"/>
            <a:ext cx="2973110" cy="2264688"/>
          </a:xfrm>
          <a:prstGeom prst="roundRect">
            <a:avLst>
              <a:gd name="adj" fmla="val 15855"/>
            </a:avLst>
          </a:prstGeom>
          <a:solidFill>
            <a:srgbClr val="F3F3FF"/>
          </a:solidFill>
          <a:ln w="22850" cap="flat" cmpd="sng">
            <a:solidFill>
              <a:srgbClr val="018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4312325" y="2876669"/>
            <a:ext cx="2448758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"/>
              <a:buNone/>
            </a:pPr>
            <a:r>
              <a:rPr lang="en-US" sz="22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40-70%</a:t>
            </a:r>
            <a:endParaRPr sz="2200" b="0" i="0" u="none" strike="noStrike" cap="none"/>
          </a:p>
        </p:txBody>
      </p:sp>
      <p:sp>
        <p:nvSpPr>
          <p:cNvPr id="64" name="Google Shape;64;p11"/>
          <p:cNvSpPr/>
          <p:nvPr/>
        </p:nvSpPr>
        <p:spPr>
          <a:xfrm>
            <a:off x="4312325" y="3467933"/>
            <a:ext cx="2448758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lang="en-US" sz="18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Of QA time spent on repetitive documentation</a:t>
            </a:r>
            <a:endParaRPr sz="1850" b="0" i="0" u="none" strike="noStrike" cap="none"/>
          </a:p>
        </p:txBody>
      </p:sp>
      <p:sp>
        <p:nvSpPr>
          <p:cNvPr id="65" name="Google Shape;65;p11"/>
          <p:cNvSpPr/>
          <p:nvPr/>
        </p:nvSpPr>
        <p:spPr>
          <a:xfrm>
            <a:off x="837724" y="5118497"/>
            <a:ext cx="6185535" cy="1498640"/>
          </a:xfrm>
          <a:prstGeom prst="roundRect">
            <a:avLst>
              <a:gd name="adj" fmla="val 23960"/>
            </a:avLst>
          </a:prstGeom>
          <a:solidFill>
            <a:srgbClr val="F3F3FF"/>
          </a:solidFill>
          <a:ln w="22850" cap="flat" cmpd="sng">
            <a:solidFill>
              <a:srgbClr val="DA33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1099899" y="538067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"/>
              <a:buNone/>
            </a:pPr>
            <a:r>
              <a:rPr lang="en-US" sz="22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30% of Bugs</a:t>
            </a:r>
            <a:endParaRPr sz="2200" b="0" i="0" u="none" strike="noStrike" cap="none"/>
          </a:p>
        </p:txBody>
      </p:sp>
      <p:sp>
        <p:nvSpPr>
          <p:cNvPr id="67" name="Google Shape;67;p11"/>
          <p:cNvSpPr/>
          <p:nvPr/>
        </p:nvSpPr>
        <p:spPr>
          <a:xfrm>
            <a:off x="1099899" y="5971937"/>
            <a:ext cx="5661184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lang="en-US" sz="18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Reach production due to coverage gaps</a:t>
            </a:r>
            <a:endParaRPr sz="1850" b="0" i="0" u="none" strike="noStrike" cap="none"/>
          </a:p>
        </p:txBody>
      </p:sp>
      <p:sp>
        <p:nvSpPr>
          <p:cNvPr id="68" name="Google Shape;68;p11"/>
          <p:cNvSpPr/>
          <p:nvPr/>
        </p:nvSpPr>
        <p:spPr>
          <a:xfrm>
            <a:off x="7442478" y="2345293"/>
            <a:ext cx="6530102" cy="4541044"/>
          </a:xfrm>
          <a:prstGeom prst="roundRect">
            <a:avLst>
              <a:gd name="adj" fmla="val 12652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7681793" y="2584609"/>
            <a:ext cx="3379470" cy="422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50"/>
              <a:buFont typeface="Nunito SemiBold"/>
              <a:buNone/>
            </a:pPr>
            <a:r>
              <a:rPr lang="en-US" sz="2650" b="0" i="0" u="none" strike="noStrike" cap="none">
                <a:solidFill>
                  <a:srgbClr val="FFFF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The Real Cost</a:t>
            </a:r>
            <a:endParaRPr sz="2650" b="0" i="0" u="none" strike="noStrike" cap="none"/>
          </a:p>
        </p:txBody>
      </p:sp>
      <p:sp>
        <p:nvSpPr>
          <p:cNvPr id="70" name="Google Shape;70;p11"/>
          <p:cNvSpPr/>
          <p:nvPr/>
        </p:nvSpPr>
        <p:spPr>
          <a:xfrm>
            <a:off x="7681793" y="3246239"/>
            <a:ext cx="6051471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PT San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$</a:t>
            </a:r>
            <a:r>
              <a:rPr lang="en-US" sz="2000" b="1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20</a:t>
            </a:r>
            <a:r>
              <a:rPr lang="en-US" sz="1850" b="1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billion wasted annually</a:t>
            </a:r>
            <a:r>
              <a:rPr lang="en-US" sz="1850" b="0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on manual test case writing across the industry. QA bottlenecks slow releases while inconsistent quality creates risk.</a:t>
            </a:r>
            <a:endParaRPr lang="en-US" sz="1850" b="0" i="0" u="none" strike="noStrike" cap="none"/>
          </a:p>
        </p:txBody>
      </p:sp>
      <p:sp>
        <p:nvSpPr>
          <p:cNvPr id="71" name="Google Shape;71;p11"/>
          <p:cNvSpPr/>
          <p:nvPr/>
        </p:nvSpPr>
        <p:spPr>
          <a:xfrm>
            <a:off x="7681793" y="4610695"/>
            <a:ext cx="6108621" cy="110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62162"/>
              </a:lnSpc>
              <a:buClr>
                <a:srgbClr val="FFFFFF"/>
              </a:buClr>
              <a:buSzPts val="1850"/>
              <a:buFont typeface="PT Sans"/>
            </a:pPr>
            <a:br>
              <a:rPr lang="en-US" sz="1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</a:br>
            <a:r>
              <a:rPr lang="en-US" sz="1850" b="0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Senior QA engineers become documentation machines instead of strategic </a:t>
            </a:r>
            <a:r>
              <a:rPr lang="en-US" sz="2000" b="0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quality</a:t>
            </a:r>
            <a:r>
              <a:rPr lang="en-US" sz="1850" b="0" i="0" u="none" strike="noStrike" cap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leaders.</a:t>
            </a:r>
            <a:endParaRPr lang="en-US" sz="1850" b="0" i="0" u="none" strike="noStrike" cap="none"/>
          </a:p>
        </p:txBody>
      </p:sp>
      <p:sp>
        <p:nvSpPr>
          <p:cNvPr id="72" name="Google Shape;72;p11"/>
          <p:cNvSpPr/>
          <p:nvPr/>
        </p:nvSpPr>
        <p:spPr>
          <a:xfrm>
            <a:off x="837724" y="71555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lang="en-US" sz="1850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Market opportunity:</a:t>
            </a:r>
            <a:r>
              <a:rPr lang="en-US" sz="18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5M+ QA engineers globally—every agile team faces this challenge.</a:t>
            </a:r>
            <a:endParaRPr sz="1850" b="0" i="0" u="none" strike="noStrike" cap="none"/>
          </a:p>
        </p:txBody>
      </p:sp>
      <p:sp>
        <p:nvSpPr>
          <p:cNvPr id="73" name="Google Shape;73;p11"/>
          <p:cNvSpPr/>
          <p:nvPr/>
        </p:nvSpPr>
        <p:spPr>
          <a:xfrm>
            <a:off x="12814550" y="7649700"/>
            <a:ext cx="1815900" cy="579900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812244" y="874038"/>
            <a:ext cx="1784985" cy="431483"/>
          </a:xfrm>
          <a:prstGeom prst="roundRect">
            <a:avLst>
              <a:gd name="adj" fmla="val 64542"/>
            </a:avLst>
          </a:prstGeom>
          <a:solidFill>
            <a:srgbClr val="CF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28" y="996910"/>
            <a:ext cx="185618" cy="18561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/>
          <p:nvPr/>
        </p:nvSpPr>
        <p:spPr>
          <a:xfrm>
            <a:off x="1229797" y="943570"/>
            <a:ext cx="1228249" cy="29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50"/>
              <a:buFont typeface="PT Sans"/>
              <a:buNone/>
            </a:pPr>
            <a:r>
              <a:rPr lang="en-US" sz="14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THE SOLUTION</a:t>
            </a:r>
            <a:endParaRPr sz="1450" b="0" i="0" u="none" strike="noStrike" cap="none"/>
          </a:p>
        </p:txBody>
      </p:sp>
      <p:sp>
        <p:nvSpPr>
          <p:cNvPr id="82" name="Google Shape;82;p12"/>
          <p:cNvSpPr/>
          <p:nvPr/>
        </p:nvSpPr>
        <p:spPr>
          <a:xfrm>
            <a:off x="812244" y="1395413"/>
            <a:ext cx="6405920" cy="68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250"/>
              <a:buFont typeface="Nunito"/>
              <a:buNone/>
            </a:pPr>
            <a:r>
              <a:rPr lang="en-US" sz="425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One-Click Transformation</a:t>
            </a:r>
            <a:endParaRPr sz="4250" b="0" i="0" u="none" strike="noStrike" cap="none"/>
          </a:p>
        </p:txBody>
      </p:sp>
      <p:sp>
        <p:nvSpPr>
          <p:cNvPr id="83" name="Google Shape;83;p12"/>
          <p:cNvSpPr/>
          <p:nvPr/>
        </p:nvSpPr>
        <p:spPr>
          <a:xfrm>
            <a:off x="812244" y="2415302"/>
            <a:ext cx="13005911" cy="45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777"/>
              </a:lnSpc>
              <a:buClr>
                <a:srgbClr val="00002E"/>
              </a:buClr>
              <a:buSzPts val="2250"/>
              <a:buFont typeface="PT Sans"/>
            </a:pPr>
            <a:r>
              <a:rPr lang="en-US" sz="22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Jira/Azure DevOps ticket → 5 autonomous AI agents → production-ready test suite </a:t>
            </a:r>
            <a:r>
              <a:rPr lang="en-US" sz="225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within</a:t>
            </a:r>
            <a:r>
              <a:rPr lang="en-US" sz="22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225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5 </a:t>
            </a:r>
            <a:r>
              <a:rPr lang="en-US" sz="22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minutes</a:t>
            </a:r>
            <a:endParaRPr lang="en-US" sz="2250" b="0" i="0" u="none" strike="noStrike" cap="none"/>
          </a:p>
        </p:txBody>
      </p:sp>
      <p:pic>
        <p:nvPicPr>
          <p:cNvPr id="84" name="Google Shape;84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244" y="3125272"/>
            <a:ext cx="668893" cy="6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1762363" y="3125272"/>
            <a:ext cx="2090380" cy="68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1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QA Execution Roadmap</a:t>
            </a:r>
            <a:endParaRPr sz="2100" b="1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1762363" y="3942636"/>
            <a:ext cx="2090380" cy="219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00"/>
              <a:buFont typeface="PT Sans"/>
              <a:buNone/>
            </a:pPr>
            <a:r>
              <a:rPr lang="en-US" sz="180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Comprehensive test strategy covering happy paths, negative testing, edge cases, and regression scenarios</a:t>
            </a:r>
            <a:endParaRPr sz="1800" b="0" i="0" u="none" strike="noStrike" cap="none"/>
          </a:p>
        </p:txBody>
      </p:sp>
      <p:pic>
        <p:nvPicPr>
          <p:cNvPr id="87" name="Google Shape;87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3969" y="3125272"/>
            <a:ext cx="668893" cy="6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/>
          <p:nvPr/>
        </p:nvSpPr>
        <p:spPr>
          <a:xfrm>
            <a:off x="5084075" y="3066225"/>
            <a:ext cx="2656800" cy="1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1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Production-Ready Test Cases</a:t>
            </a:r>
            <a:endParaRPr sz="2100" b="1" i="0" u="none" strike="noStrike" cap="none"/>
          </a:p>
        </p:txBody>
      </p:sp>
      <p:sp>
        <p:nvSpPr>
          <p:cNvPr id="89" name="Google Shape;89;p12"/>
          <p:cNvSpPr/>
          <p:nvPr/>
        </p:nvSpPr>
        <p:spPr>
          <a:xfrm>
            <a:off x="5084125" y="3971507"/>
            <a:ext cx="2090400" cy="18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00"/>
              <a:buFont typeface="PT Sans"/>
              <a:buNone/>
            </a:pPr>
            <a:r>
              <a:rPr lang="en-US" sz="180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Detailed steps, expected results, test data, and priorities—ready to execute immediately</a:t>
            </a:r>
            <a:endParaRPr sz="1800" b="0" i="0" u="none" strike="noStrike" cap="none"/>
          </a:p>
        </p:txBody>
      </p:sp>
      <p:pic>
        <p:nvPicPr>
          <p:cNvPr id="90" name="Google Shape;90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5813" y="3125272"/>
            <a:ext cx="668893" cy="6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/>
          <p:nvPr/>
        </p:nvSpPr>
        <p:spPr>
          <a:xfrm>
            <a:off x="8405932" y="3125272"/>
            <a:ext cx="2090380" cy="68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1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Coverage Gap Analysis</a:t>
            </a:r>
            <a:endParaRPr sz="2100" b="1" i="0" u="none" strike="noStrike" cap="none"/>
          </a:p>
        </p:txBody>
      </p:sp>
      <p:sp>
        <p:nvSpPr>
          <p:cNvPr id="92" name="Google Shape;92;p12"/>
          <p:cNvSpPr/>
          <p:nvPr/>
        </p:nvSpPr>
        <p:spPr>
          <a:xfrm>
            <a:off x="8405932" y="3942636"/>
            <a:ext cx="2090380" cy="219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00"/>
              <a:buFont typeface="PT Sans"/>
              <a:buNone/>
            </a:pPr>
            <a:r>
              <a:rPr lang="en-US" sz="180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AI identifies missing scenarios and generates clarification questions to ensure complete coverage</a:t>
            </a:r>
            <a:endParaRPr sz="1800" b="0" i="0" u="none" strike="noStrike" cap="none"/>
          </a:p>
        </p:txBody>
      </p:sp>
      <p:pic>
        <p:nvPicPr>
          <p:cNvPr id="93" name="Google Shape;93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77537" y="3125272"/>
            <a:ext cx="668893" cy="6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/>
          <p:nvPr/>
        </p:nvSpPr>
        <p:spPr>
          <a:xfrm>
            <a:off x="11727656" y="3125272"/>
            <a:ext cx="2090499" cy="341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1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Universal Export</a:t>
            </a:r>
            <a:endParaRPr sz="2100" b="1" i="0" u="none" strike="noStrike" cap="none"/>
          </a:p>
        </p:txBody>
      </p:sp>
      <p:sp>
        <p:nvSpPr>
          <p:cNvPr id="95" name="Google Shape;95;p12"/>
          <p:cNvSpPr/>
          <p:nvPr/>
        </p:nvSpPr>
        <p:spPr>
          <a:xfrm>
            <a:off x="11727656" y="3601403"/>
            <a:ext cx="2090499" cy="1827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00"/>
              <a:buFont typeface="PT Sans"/>
              <a:buNone/>
            </a:pPr>
            <a:r>
              <a:rPr lang="en-US" sz="180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Excel format compatible with Jira, Xray, Zephyr, and any test management tool</a:t>
            </a:r>
            <a:endParaRPr sz="1800" b="0" i="0" u="none" strike="noStrike" cap="none"/>
          </a:p>
        </p:txBody>
      </p:sp>
      <p:sp>
        <p:nvSpPr>
          <p:cNvPr id="96" name="Google Shape;96;p12"/>
          <p:cNvSpPr/>
          <p:nvPr/>
        </p:nvSpPr>
        <p:spPr>
          <a:xfrm>
            <a:off x="812250" y="6673098"/>
            <a:ext cx="13005900" cy="682500"/>
          </a:xfrm>
          <a:prstGeom prst="roundRect">
            <a:avLst>
              <a:gd name="adj" fmla="val 36007"/>
            </a:avLst>
          </a:prstGeom>
          <a:solidFill>
            <a:srgbClr val="B7C2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672" y="6898315"/>
            <a:ext cx="290036" cy="23205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/>
          <p:nvPr/>
        </p:nvSpPr>
        <p:spPr>
          <a:xfrm>
            <a:off x="1481136" y="6769730"/>
            <a:ext cx="12019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T San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Time investment:</a:t>
            </a:r>
            <a:r>
              <a:rPr lang="en-US" sz="1800" b="0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1800">
                <a:latin typeface="PT Sans"/>
                <a:ea typeface="PT Sans"/>
                <a:cs typeface="PT Sans"/>
                <a:sym typeface="PT Sans"/>
              </a:rPr>
              <a:t>4-5</a:t>
            </a:r>
            <a:r>
              <a:rPr lang="en-US" sz="1800" b="0" i="0" u="none" strike="noStrike" cap="non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minutes generation + 5 minutes review = </a:t>
            </a:r>
            <a:r>
              <a:rPr lang="en-US" sz="1800" b="0" i="0" u="none" strike="noStrike" cap="none">
                <a:solidFill>
                  <a:srgbClr val="FFFFFF"/>
                </a:solidFill>
                <a:highlight>
                  <a:srgbClr val="DA33BF"/>
                </a:highlight>
                <a:latin typeface="PT Sans"/>
                <a:ea typeface="PT Sans"/>
                <a:cs typeface="PT Sans"/>
                <a:sym typeface="PT Sans"/>
              </a:rPr>
              <a:t>95% time saved</a:t>
            </a:r>
            <a:endParaRPr sz="1800" b="0" i="0" u="none" strike="noStrike" cap="none"/>
          </a:p>
        </p:txBody>
      </p:sp>
      <p:sp>
        <p:nvSpPr>
          <p:cNvPr id="99" name="Google Shape;99;p12"/>
          <p:cNvSpPr/>
          <p:nvPr/>
        </p:nvSpPr>
        <p:spPr>
          <a:xfrm>
            <a:off x="12814550" y="7649700"/>
            <a:ext cx="1815900" cy="579900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444793" y="347077"/>
            <a:ext cx="5120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355"/>
              <a:buFont typeface="Nunito"/>
              <a:buNone/>
            </a:pPr>
            <a:r>
              <a:rPr lang="en-US" sz="3354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Truly Agentic Architecture</a:t>
            </a:r>
            <a:endParaRPr sz="3354" b="0" i="0" u="none" strike="noStrike" cap="none"/>
          </a:p>
        </p:txBody>
      </p:sp>
      <p:sp>
        <p:nvSpPr>
          <p:cNvPr id="106" name="Google Shape;106;p13"/>
          <p:cNvSpPr/>
          <p:nvPr/>
        </p:nvSpPr>
        <p:spPr>
          <a:xfrm>
            <a:off x="444793" y="1066228"/>
            <a:ext cx="1642800" cy="307500"/>
          </a:xfrm>
          <a:prstGeom prst="roundRect">
            <a:avLst>
              <a:gd name="adj" fmla="val 71212"/>
            </a:avLst>
          </a:prstGeom>
          <a:noFill/>
          <a:ln w="14525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425" tIns="139425" rIns="139425" bIns="13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565902" y="1132503"/>
            <a:ext cx="1933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44"/>
              <a:buFont typeface="PT Sans"/>
              <a:buNone/>
            </a:pPr>
            <a:r>
              <a:rPr lang="en-US" sz="1143" b="0" i="0" u="none" strike="noStrike" cap="none">
                <a:solidFill>
                  <a:srgbClr val="2D4DF2"/>
                </a:solidFill>
                <a:latin typeface="PT Sans"/>
                <a:ea typeface="PT Sans"/>
                <a:cs typeface="PT Sans"/>
                <a:sym typeface="PT Sans"/>
              </a:rPr>
              <a:t>NOT JUST PROMPTING</a:t>
            </a:r>
            <a:endParaRPr sz="1143" b="0" i="0" u="none" strike="noStrike" cap="none"/>
          </a:p>
        </p:txBody>
      </p:sp>
      <p:pic>
        <p:nvPicPr>
          <p:cNvPr id="108" name="Google Shape;10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525" y="1688725"/>
            <a:ext cx="8571735" cy="3702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/>
          <p:nvPr/>
        </p:nvSpPr>
        <p:spPr>
          <a:xfrm>
            <a:off x="2831972" y="4493616"/>
            <a:ext cx="12729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Nunito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Context Builder</a:t>
            </a:r>
            <a:endParaRPr sz="1298" b="0" i="0" u="none" strike="noStrike" cap="none"/>
          </a:p>
        </p:txBody>
      </p:sp>
      <p:sp>
        <p:nvSpPr>
          <p:cNvPr id="110" name="Google Shape;110;p13"/>
          <p:cNvSpPr/>
          <p:nvPr/>
        </p:nvSpPr>
        <p:spPr>
          <a:xfrm>
            <a:off x="2831972" y="4777579"/>
            <a:ext cx="12729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26"/>
              <a:buFont typeface="PT Sans"/>
              <a:buNone/>
            </a:pPr>
            <a:r>
              <a:rPr lang="en-US" sz="11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Maps modules and dependencies</a:t>
            </a:r>
            <a:endParaRPr sz="1125" b="0" i="0" u="none" strike="noStrike" cap="none"/>
          </a:p>
        </p:txBody>
      </p:sp>
      <p:sp>
        <p:nvSpPr>
          <p:cNvPr id="111" name="Google Shape;111;p13"/>
          <p:cNvSpPr/>
          <p:nvPr/>
        </p:nvSpPr>
        <p:spPr>
          <a:xfrm>
            <a:off x="6100050" y="4493616"/>
            <a:ext cx="12729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Nunito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Test Generator</a:t>
            </a:r>
            <a:endParaRPr sz="1298" b="0" i="0" u="none" strike="noStrike" cap="none"/>
          </a:p>
        </p:txBody>
      </p:sp>
      <p:sp>
        <p:nvSpPr>
          <p:cNvPr id="112" name="Google Shape;112;p13"/>
          <p:cNvSpPr/>
          <p:nvPr/>
        </p:nvSpPr>
        <p:spPr>
          <a:xfrm>
            <a:off x="6100050" y="4777579"/>
            <a:ext cx="12729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26"/>
              <a:buFont typeface="PT Sans"/>
              <a:buNone/>
            </a:pPr>
            <a:r>
              <a:rPr lang="en-US" sz="11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Produces detailed test cases</a:t>
            </a:r>
            <a:endParaRPr sz="1125" b="0" i="0" u="none" strike="noStrike" cap="none"/>
          </a:p>
        </p:txBody>
      </p:sp>
      <p:sp>
        <p:nvSpPr>
          <p:cNvPr id="113" name="Google Shape;113;p13"/>
          <p:cNvSpPr/>
          <p:nvPr/>
        </p:nvSpPr>
        <p:spPr>
          <a:xfrm>
            <a:off x="1201989" y="2022816"/>
            <a:ext cx="12729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Nunito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Ticket Reader</a:t>
            </a:r>
            <a:endParaRPr sz="1298" b="0" i="0" u="none" strike="noStrike" cap="none"/>
          </a:p>
        </p:txBody>
      </p:sp>
      <p:sp>
        <p:nvSpPr>
          <p:cNvPr id="114" name="Google Shape;114;p13"/>
          <p:cNvSpPr/>
          <p:nvPr/>
        </p:nvSpPr>
        <p:spPr>
          <a:xfrm>
            <a:off x="1201989" y="2306779"/>
            <a:ext cx="12729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26"/>
              <a:buFont typeface="PT Sans"/>
              <a:buNone/>
            </a:pPr>
            <a:r>
              <a:rPr lang="en-US" sz="11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Extracts requirements and gaps</a:t>
            </a:r>
            <a:endParaRPr sz="1125" b="0" i="0" u="none" strike="noStrike" cap="none"/>
          </a:p>
        </p:txBody>
      </p:sp>
      <p:sp>
        <p:nvSpPr>
          <p:cNvPr id="115" name="Google Shape;115;p13"/>
          <p:cNvSpPr/>
          <p:nvPr/>
        </p:nvSpPr>
        <p:spPr>
          <a:xfrm>
            <a:off x="7681481" y="2022816"/>
            <a:ext cx="12729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Nunito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Coverage Auditor</a:t>
            </a:r>
            <a:endParaRPr sz="1298" b="0" i="0" u="none" strike="noStrike" cap="none"/>
          </a:p>
        </p:txBody>
      </p:sp>
      <p:sp>
        <p:nvSpPr>
          <p:cNvPr id="116" name="Google Shape;116;p13"/>
          <p:cNvSpPr/>
          <p:nvPr/>
        </p:nvSpPr>
        <p:spPr>
          <a:xfrm>
            <a:off x="7681481" y="2524805"/>
            <a:ext cx="12729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26"/>
              <a:buFont typeface="PT Sans"/>
              <a:buNone/>
            </a:pPr>
            <a:r>
              <a:rPr lang="en-US" sz="11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Validates coverage and self-corrects</a:t>
            </a:r>
            <a:endParaRPr sz="1125" b="0" i="0" u="none" strike="noStrike" cap="none"/>
          </a:p>
        </p:txBody>
      </p:sp>
      <p:sp>
        <p:nvSpPr>
          <p:cNvPr id="117" name="Google Shape;117;p13"/>
          <p:cNvSpPr/>
          <p:nvPr/>
        </p:nvSpPr>
        <p:spPr>
          <a:xfrm>
            <a:off x="4486294" y="2022816"/>
            <a:ext cx="12729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Nunito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Test Strategist</a:t>
            </a:r>
            <a:endParaRPr sz="1298" b="0" i="0" u="none" strike="noStrike" cap="none"/>
          </a:p>
        </p:txBody>
      </p:sp>
      <p:sp>
        <p:nvSpPr>
          <p:cNvPr id="118" name="Google Shape;118;p13"/>
          <p:cNvSpPr/>
          <p:nvPr/>
        </p:nvSpPr>
        <p:spPr>
          <a:xfrm>
            <a:off x="4486294" y="2306779"/>
            <a:ext cx="12729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26"/>
              <a:buFont typeface="PT Sans"/>
              <a:buNone/>
            </a:pPr>
            <a:r>
              <a:rPr lang="en-US" sz="11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Creates roadmap and priorities</a:t>
            </a:r>
            <a:endParaRPr sz="1125" b="0" i="0" u="none" strike="noStrike" cap="none"/>
          </a:p>
        </p:txBody>
      </p:sp>
      <p:sp>
        <p:nvSpPr>
          <p:cNvPr id="119" name="Google Shape;119;p13"/>
          <p:cNvSpPr/>
          <p:nvPr/>
        </p:nvSpPr>
        <p:spPr>
          <a:xfrm>
            <a:off x="9877801" y="1412427"/>
            <a:ext cx="37272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915"/>
              <a:buFont typeface="Nunito"/>
              <a:buNone/>
            </a:pPr>
            <a:r>
              <a:rPr lang="en-US" sz="1914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Five Specialized Agents Working Autonomously</a:t>
            </a:r>
            <a:endParaRPr sz="1914" b="0" i="0" u="none" strike="noStrike" cap="none"/>
          </a:p>
        </p:txBody>
      </p:sp>
      <p:sp>
        <p:nvSpPr>
          <p:cNvPr id="120" name="Google Shape;120;p13"/>
          <p:cNvSpPr/>
          <p:nvPr/>
        </p:nvSpPr>
        <p:spPr>
          <a:xfrm>
            <a:off x="9877801" y="2133272"/>
            <a:ext cx="1764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Nunito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325" b="0" i="0" u="none" strike="noStrike" cap="none"/>
          </a:p>
        </p:txBody>
      </p:sp>
      <p:sp>
        <p:nvSpPr>
          <p:cNvPr id="121" name="Google Shape;121;p13"/>
          <p:cNvSpPr/>
          <p:nvPr/>
        </p:nvSpPr>
        <p:spPr>
          <a:xfrm>
            <a:off x="9877801" y="2410317"/>
            <a:ext cx="3727200" cy="22500"/>
          </a:xfrm>
          <a:prstGeom prst="rect">
            <a:avLst/>
          </a:prstGeom>
          <a:solidFill>
            <a:srgbClr val="2D4DF2"/>
          </a:solidFill>
          <a:ln>
            <a:noFill/>
          </a:ln>
        </p:spPr>
        <p:txBody>
          <a:bodyPr spcFirstLastPara="1" wrap="square" lIns="134650" tIns="134650" rIns="134650" bIns="134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9877801" y="2543229"/>
            <a:ext cx="2073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20"/>
              <a:buFont typeface="Nunito"/>
              <a:buNone/>
            </a:pPr>
            <a:r>
              <a:rPr lang="en-US" sz="161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Ticket Reader</a:t>
            </a:r>
            <a:endParaRPr sz="1619" b="0" i="0" u="none" strike="noStrike" cap="none"/>
          </a:p>
        </p:txBody>
      </p:sp>
      <p:sp>
        <p:nvSpPr>
          <p:cNvPr id="123" name="Google Shape;123;p13"/>
          <p:cNvSpPr/>
          <p:nvPr/>
        </p:nvSpPr>
        <p:spPr>
          <a:xfrm>
            <a:off x="9877801" y="2890414"/>
            <a:ext cx="37272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PT Sans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Extracts requirements and identifies gaps autonomously</a:t>
            </a:r>
            <a:endParaRPr sz="1325" b="0" i="0" u="none" strike="noStrike" cap="none"/>
          </a:p>
        </p:txBody>
      </p:sp>
      <p:sp>
        <p:nvSpPr>
          <p:cNvPr id="124" name="Google Shape;124;p13"/>
          <p:cNvSpPr/>
          <p:nvPr/>
        </p:nvSpPr>
        <p:spPr>
          <a:xfrm>
            <a:off x="9877801" y="3533405"/>
            <a:ext cx="1764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Nunito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325" b="0" i="0" u="none" strike="noStrike" cap="none"/>
          </a:p>
        </p:txBody>
      </p:sp>
      <p:sp>
        <p:nvSpPr>
          <p:cNvPr id="125" name="Google Shape;125;p13"/>
          <p:cNvSpPr/>
          <p:nvPr/>
        </p:nvSpPr>
        <p:spPr>
          <a:xfrm>
            <a:off x="9877801" y="3810451"/>
            <a:ext cx="3727200" cy="22500"/>
          </a:xfrm>
          <a:prstGeom prst="rect">
            <a:avLst/>
          </a:prstGeom>
          <a:solidFill>
            <a:srgbClr val="018CE1"/>
          </a:solidFill>
          <a:ln>
            <a:noFill/>
          </a:ln>
        </p:spPr>
        <p:txBody>
          <a:bodyPr spcFirstLastPara="1" wrap="square" lIns="134650" tIns="134650" rIns="134650" bIns="134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9877801" y="3943363"/>
            <a:ext cx="2073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20"/>
              <a:buFont typeface="Nunito"/>
              <a:buNone/>
            </a:pPr>
            <a:r>
              <a:rPr lang="en-US" sz="161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Context Builder</a:t>
            </a:r>
            <a:endParaRPr sz="1619" b="0" i="0" u="none" strike="noStrike" cap="none"/>
          </a:p>
        </p:txBody>
      </p:sp>
      <p:sp>
        <p:nvSpPr>
          <p:cNvPr id="127" name="Google Shape;127;p13"/>
          <p:cNvSpPr/>
          <p:nvPr/>
        </p:nvSpPr>
        <p:spPr>
          <a:xfrm>
            <a:off x="9877801" y="4290547"/>
            <a:ext cx="37272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PT Sans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Maps impacted modules and dependency chains</a:t>
            </a:r>
            <a:endParaRPr sz="1325" b="0" i="0" u="none" strike="noStrike" cap="none"/>
          </a:p>
        </p:txBody>
      </p:sp>
      <p:sp>
        <p:nvSpPr>
          <p:cNvPr id="128" name="Google Shape;128;p13"/>
          <p:cNvSpPr/>
          <p:nvPr/>
        </p:nvSpPr>
        <p:spPr>
          <a:xfrm>
            <a:off x="9877801" y="4722071"/>
            <a:ext cx="1764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Nunito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325" b="0" i="0" u="none" strike="noStrike" cap="none"/>
          </a:p>
        </p:txBody>
      </p:sp>
      <p:sp>
        <p:nvSpPr>
          <p:cNvPr id="129" name="Google Shape;129;p13"/>
          <p:cNvSpPr/>
          <p:nvPr/>
        </p:nvSpPr>
        <p:spPr>
          <a:xfrm>
            <a:off x="9877801" y="4999117"/>
            <a:ext cx="3727200" cy="22500"/>
          </a:xfrm>
          <a:prstGeom prst="rect">
            <a:avLst/>
          </a:prstGeom>
          <a:solidFill>
            <a:srgbClr val="DA33BF"/>
          </a:solidFill>
          <a:ln>
            <a:noFill/>
          </a:ln>
        </p:spPr>
        <p:txBody>
          <a:bodyPr spcFirstLastPara="1" wrap="square" lIns="134650" tIns="134650" rIns="134650" bIns="134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9877801" y="5132030"/>
            <a:ext cx="2073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20"/>
              <a:buFont typeface="Nunito"/>
              <a:buNone/>
            </a:pPr>
            <a:r>
              <a:rPr lang="en-US" sz="161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Test Strategist</a:t>
            </a:r>
            <a:endParaRPr sz="1619" b="0" i="0" u="none" strike="noStrike" cap="none"/>
          </a:p>
        </p:txBody>
      </p:sp>
      <p:sp>
        <p:nvSpPr>
          <p:cNvPr id="131" name="Google Shape;131;p13"/>
          <p:cNvSpPr/>
          <p:nvPr/>
        </p:nvSpPr>
        <p:spPr>
          <a:xfrm>
            <a:off x="9877801" y="5479213"/>
            <a:ext cx="37272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PT Sans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Creates comprehensive QA roadmap by category</a:t>
            </a:r>
            <a:endParaRPr sz="1325" b="0" i="0" u="none" strike="noStrike" cap="none"/>
          </a:p>
        </p:txBody>
      </p:sp>
      <p:sp>
        <p:nvSpPr>
          <p:cNvPr id="132" name="Google Shape;132;p13"/>
          <p:cNvSpPr/>
          <p:nvPr/>
        </p:nvSpPr>
        <p:spPr>
          <a:xfrm>
            <a:off x="9877801" y="5910738"/>
            <a:ext cx="1764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Nunito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1325" b="0" i="0" u="none" strike="noStrike" cap="none"/>
          </a:p>
        </p:txBody>
      </p:sp>
      <p:sp>
        <p:nvSpPr>
          <p:cNvPr id="133" name="Google Shape;133;p13"/>
          <p:cNvSpPr/>
          <p:nvPr/>
        </p:nvSpPr>
        <p:spPr>
          <a:xfrm>
            <a:off x="9877801" y="6187784"/>
            <a:ext cx="3727200" cy="22500"/>
          </a:xfrm>
          <a:prstGeom prst="rect">
            <a:avLst/>
          </a:prstGeom>
          <a:solidFill>
            <a:srgbClr val="2D4DF2"/>
          </a:solidFill>
          <a:ln>
            <a:noFill/>
          </a:ln>
        </p:spPr>
        <p:txBody>
          <a:bodyPr spcFirstLastPara="1" wrap="square" lIns="134650" tIns="134650" rIns="134650" bIns="134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9877801" y="6320696"/>
            <a:ext cx="2073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20"/>
              <a:buFont typeface="Nunito"/>
              <a:buNone/>
            </a:pPr>
            <a:r>
              <a:rPr lang="en-US" sz="161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Test Generator</a:t>
            </a:r>
            <a:endParaRPr sz="1619" b="0" i="0" u="none" strike="noStrike" cap="none"/>
          </a:p>
        </p:txBody>
      </p:sp>
      <p:sp>
        <p:nvSpPr>
          <p:cNvPr id="135" name="Google Shape;135;p13"/>
          <p:cNvSpPr/>
          <p:nvPr/>
        </p:nvSpPr>
        <p:spPr>
          <a:xfrm>
            <a:off x="9877801" y="6667880"/>
            <a:ext cx="37272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PT Sans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Produces detailed test cases with priorities</a:t>
            </a:r>
            <a:endParaRPr sz="1325" b="0" i="0" u="none" strike="noStrike" cap="none"/>
          </a:p>
        </p:txBody>
      </p:sp>
      <p:sp>
        <p:nvSpPr>
          <p:cNvPr id="136" name="Google Shape;136;p13"/>
          <p:cNvSpPr/>
          <p:nvPr/>
        </p:nvSpPr>
        <p:spPr>
          <a:xfrm>
            <a:off x="9877801" y="7099405"/>
            <a:ext cx="1764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Nunito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325" b="0" i="0" u="none" strike="noStrike" cap="none"/>
          </a:p>
        </p:txBody>
      </p:sp>
      <p:sp>
        <p:nvSpPr>
          <p:cNvPr id="137" name="Google Shape;137;p13"/>
          <p:cNvSpPr/>
          <p:nvPr/>
        </p:nvSpPr>
        <p:spPr>
          <a:xfrm>
            <a:off x="9877801" y="7376451"/>
            <a:ext cx="3727200" cy="22500"/>
          </a:xfrm>
          <a:prstGeom prst="rect">
            <a:avLst/>
          </a:prstGeom>
          <a:solidFill>
            <a:srgbClr val="018CE1"/>
          </a:solidFill>
          <a:ln>
            <a:noFill/>
          </a:ln>
        </p:spPr>
        <p:txBody>
          <a:bodyPr spcFirstLastPara="1" wrap="square" lIns="134650" tIns="134650" rIns="134650" bIns="134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9877801" y="7509363"/>
            <a:ext cx="20733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20"/>
              <a:buFont typeface="Nunito"/>
              <a:buNone/>
            </a:pPr>
            <a:r>
              <a:rPr lang="en-US" sz="161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Coverage Auditor</a:t>
            </a:r>
            <a:endParaRPr sz="1619" b="0" i="0" u="none" strike="noStrike" cap="none"/>
          </a:p>
        </p:txBody>
      </p:sp>
      <p:sp>
        <p:nvSpPr>
          <p:cNvPr id="139" name="Google Shape;139;p13"/>
          <p:cNvSpPr/>
          <p:nvPr/>
        </p:nvSpPr>
        <p:spPr>
          <a:xfrm>
            <a:off x="9877801" y="7856547"/>
            <a:ext cx="37272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25"/>
              <a:buFont typeface="PT Sans"/>
              <a:buNone/>
            </a:pPr>
            <a:r>
              <a:rPr lang="en-US" sz="132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Validates coverage, finds gaps, self-corrects</a:t>
            </a:r>
            <a:endParaRPr sz="1325" b="0" i="0" u="none" strike="noStrike" cap="none"/>
          </a:p>
        </p:txBody>
      </p:sp>
      <p:pic>
        <p:nvPicPr>
          <p:cNvPr id="140" name="Google Shape;14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525" y="5910750"/>
            <a:ext cx="342083" cy="49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1214100" y="5910750"/>
            <a:ext cx="32721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93"/>
              <a:buFont typeface="Nunito"/>
              <a:buNone/>
            </a:pPr>
            <a:r>
              <a:rPr lang="en-US" sz="159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Autonomous Decision-Making</a:t>
            </a:r>
            <a:endParaRPr sz="1592" b="0" i="0" u="none" strike="noStrike" cap="none"/>
          </a:p>
        </p:txBody>
      </p:sp>
      <p:sp>
        <p:nvSpPr>
          <p:cNvPr id="142" name="Google Shape;142;p13"/>
          <p:cNvSpPr/>
          <p:nvPr/>
        </p:nvSpPr>
        <p:spPr>
          <a:xfrm>
            <a:off x="1214094" y="6264425"/>
            <a:ext cx="397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03"/>
              <a:buFont typeface="PT Sans"/>
              <a:buNone/>
            </a:pPr>
            <a:r>
              <a:rPr lang="en-US" sz="1303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No human-in-the-loop required during execution</a:t>
            </a:r>
            <a:endParaRPr sz="1303" b="0" i="0" u="none" strike="noStrike" cap="none"/>
          </a:p>
        </p:txBody>
      </p:sp>
      <p:pic>
        <p:nvPicPr>
          <p:cNvPr id="143" name="Google Shape;143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2536" y="5910750"/>
            <a:ext cx="342083" cy="49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/>
          <p:nvPr/>
        </p:nvSpPr>
        <p:spPr>
          <a:xfrm>
            <a:off x="5700106" y="5910750"/>
            <a:ext cx="16098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93"/>
              <a:buFont typeface="Nunito"/>
              <a:buNone/>
            </a:pPr>
            <a:r>
              <a:rPr lang="en-US" sz="159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Goal-Driven</a:t>
            </a:r>
            <a:endParaRPr sz="1592" b="0" i="0" u="none" strike="noStrike" cap="none"/>
          </a:p>
        </p:txBody>
      </p:sp>
      <p:sp>
        <p:nvSpPr>
          <p:cNvPr id="145" name="Google Shape;145;p13"/>
          <p:cNvSpPr/>
          <p:nvPr/>
        </p:nvSpPr>
        <p:spPr>
          <a:xfrm>
            <a:off x="5700106" y="6264425"/>
            <a:ext cx="397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03"/>
              <a:buFont typeface="PT Sans"/>
              <a:buNone/>
            </a:pPr>
            <a:r>
              <a:rPr lang="en-US" sz="1303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Focused on achieving complete test coverage</a:t>
            </a:r>
            <a:endParaRPr sz="1303" b="0" i="0" u="none" strike="noStrike" cap="none"/>
          </a:p>
        </p:txBody>
      </p:sp>
      <p:pic>
        <p:nvPicPr>
          <p:cNvPr id="146" name="Google Shape;146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525" y="6703984"/>
            <a:ext cx="342083" cy="49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/>
          <p:nvPr/>
        </p:nvSpPr>
        <p:spPr>
          <a:xfrm>
            <a:off x="1214094" y="6703984"/>
            <a:ext cx="16098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93"/>
              <a:buFont typeface="Nunito"/>
              <a:buNone/>
            </a:pPr>
            <a:r>
              <a:rPr lang="en-US" sz="159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Self-Correcting</a:t>
            </a:r>
            <a:endParaRPr sz="1592" b="0" i="0" u="none" strike="noStrike" cap="none"/>
          </a:p>
        </p:txBody>
      </p:sp>
      <p:sp>
        <p:nvSpPr>
          <p:cNvPr id="148" name="Google Shape;148;p13"/>
          <p:cNvSpPr/>
          <p:nvPr/>
        </p:nvSpPr>
        <p:spPr>
          <a:xfrm>
            <a:off x="1214094" y="7057658"/>
            <a:ext cx="397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03"/>
              <a:buFont typeface="PT Sans"/>
              <a:buNone/>
            </a:pPr>
            <a:r>
              <a:rPr lang="en-US" sz="1303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Auditor validates and loops back to improve quality</a:t>
            </a:r>
            <a:endParaRPr sz="1303" b="0" i="0" u="none" strike="noStrike" cap="none"/>
          </a:p>
        </p:txBody>
      </p:sp>
      <p:pic>
        <p:nvPicPr>
          <p:cNvPr id="149" name="Google Shape;149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72536" y="6703984"/>
            <a:ext cx="342083" cy="49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/>
        </p:nvSpPr>
        <p:spPr>
          <a:xfrm>
            <a:off x="5700106" y="6703984"/>
            <a:ext cx="16098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93"/>
              <a:buFont typeface="Nunito"/>
              <a:buNone/>
            </a:pPr>
            <a:r>
              <a:rPr lang="en-US" sz="159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Stateful Memory</a:t>
            </a:r>
            <a:endParaRPr sz="1592" b="0" i="0" u="none" strike="noStrike" cap="none"/>
          </a:p>
        </p:txBody>
      </p:sp>
      <p:sp>
        <p:nvSpPr>
          <p:cNvPr id="151" name="Google Shape;151;p13"/>
          <p:cNvSpPr/>
          <p:nvPr/>
        </p:nvSpPr>
        <p:spPr>
          <a:xfrm>
            <a:off x="5700106" y="7057658"/>
            <a:ext cx="397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03"/>
              <a:buFont typeface="PT Sans"/>
              <a:buNone/>
            </a:pPr>
            <a:r>
              <a:rPr lang="en-US" sz="1303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Agents build on each other's work collaboratively</a:t>
            </a:r>
            <a:endParaRPr sz="1303" b="0" i="0" u="none" strike="noStrike" cap="none"/>
          </a:p>
        </p:txBody>
      </p:sp>
      <p:sp>
        <p:nvSpPr>
          <p:cNvPr id="152" name="Google Shape;152;p13"/>
          <p:cNvSpPr/>
          <p:nvPr/>
        </p:nvSpPr>
        <p:spPr>
          <a:xfrm>
            <a:off x="786525" y="7409744"/>
            <a:ext cx="8886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303"/>
              <a:buFont typeface="PT Sans"/>
              <a:buNone/>
            </a:pPr>
            <a:r>
              <a:rPr lang="en-US" sz="1300" b="1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Technology stack:</a:t>
            </a:r>
            <a:r>
              <a:rPr lang="en-US" sz="1300" b="0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US" sz="1300" b="0" i="0" u="none" strike="noStrike" cap="none" dirty="0" err="1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LangGraph</a:t>
            </a:r>
            <a:r>
              <a:rPr lang="en-US" sz="1300" b="0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orchestration powered by Gemini </a:t>
            </a:r>
            <a:r>
              <a:rPr lang="en-US" sz="13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3.0</a:t>
            </a:r>
            <a:r>
              <a:rPr lang="en-US" sz="1300" b="0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with structured JSON outputs for reliability</a:t>
            </a:r>
            <a:endParaRPr sz="1300" b="0" i="0" u="none" strike="noStrike" cap="none" dirty="0"/>
          </a:p>
        </p:txBody>
      </p:sp>
      <p:sp>
        <p:nvSpPr>
          <p:cNvPr id="153" name="Google Shape;153;p13"/>
          <p:cNvSpPr/>
          <p:nvPr/>
        </p:nvSpPr>
        <p:spPr>
          <a:xfrm>
            <a:off x="12814550" y="7649700"/>
            <a:ext cx="1815900" cy="579900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325750" y="217325"/>
            <a:ext cx="1290600" cy="344100"/>
          </a:xfrm>
          <a:prstGeom prst="roundRect">
            <a:avLst>
              <a:gd name="adj" fmla="val 71759"/>
            </a:avLst>
          </a:prstGeom>
          <a:solidFill>
            <a:srgbClr val="CFD6FC"/>
          </a:solidFill>
          <a:ln>
            <a:noFill/>
          </a:ln>
        </p:spPr>
        <p:txBody>
          <a:bodyPr spcFirstLastPara="1" wrap="square" lIns="116000" tIns="116000" rIns="116000" bIns="1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151" y="307044"/>
            <a:ext cx="164483" cy="16448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695801" y="278950"/>
            <a:ext cx="797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69"/>
              <a:buFont typeface="PT Sans"/>
              <a:buNone/>
            </a:pPr>
            <a:r>
              <a:rPr lang="en-US" sz="126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LIVE DEMO</a:t>
            </a:r>
            <a:endParaRPr sz="1268" b="0" i="0" u="none" strike="noStrike" cap="none"/>
          </a:p>
        </p:txBody>
      </p:sp>
      <p:sp>
        <p:nvSpPr>
          <p:cNvPr id="162" name="Google Shape;162;p14"/>
          <p:cNvSpPr/>
          <p:nvPr/>
        </p:nvSpPr>
        <p:spPr>
          <a:xfrm>
            <a:off x="325750" y="617137"/>
            <a:ext cx="48414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806"/>
              <a:buFont typeface="Nunito"/>
              <a:buNone/>
            </a:pPr>
            <a:r>
              <a:rPr lang="en-US" sz="380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Proven Performance</a:t>
            </a:r>
            <a:endParaRPr sz="3805" b="0" i="0" u="none" strike="noStrike" cap="none"/>
          </a:p>
        </p:txBody>
      </p:sp>
      <p:pic>
        <p:nvPicPr>
          <p:cNvPr id="163" name="Google Shape;163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800" y="1339600"/>
            <a:ext cx="6968795" cy="390248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8083425" y="1486877"/>
            <a:ext cx="50367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842"/>
              <a:buFont typeface="Nunito"/>
              <a:buNone/>
            </a:pPr>
            <a:r>
              <a:rPr lang="en-US" sz="2841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Real Results from Real Tickets</a:t>
            </a:r>
            <a:endParaRPr sz="2841" b="0" i="0" u="none" strike="noStrike" cap="none"/>
          </a:p>
        </p:txBody>
      </p:sp>
      <p:sp>
        <p:nvSpPr>
          <p:cNvPr id="165" name="Google Shape;165;p14"/>
          <p:cNvSpPr/>
          <p:nvPr/>
        </p:nvSpPr>
        <p:spPr>
          <a:xfrm>
            <a:off x="8083425" y="2111930"/>
            <a:ext cx="54144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974"/>
              <a:buFont typeface="PT Sans"/>
              <a:buNone/>
            </a:pPr>
            <a:r>
              <a:rPr lang="en-US" sz="19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Our system generates </a:t>
            </a:r>
            <a:r>
              <a:rPr lang="en-US" sz="195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50-80</a:t>
            </a:r>
            <a:r>
              <a:rPr lang="en-US" sz="19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comprehensive test </a:t>
            </a:r>
            <a:r>
              <a:rPr lang="en-US" sz="1950" b="0" i="0" u="none" strike="noStrike" cap="none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cases per ticket in just 4-5 minutes. Each suite includes 8-12 critical path scenarios and covers 5-7 distinct testing categories.</a:t>
            </a:r>
            <a:endParaRPr sz="1950" b="0" i="0" u="none" strike="noStrike" cap="none" dirty="0"/>
          </a:p>
        </p:txBody>
      </p:sp>
      <p:sp>
        <p:nvSpPr>
          <p:cNvPr id="166" name="Google Shape;166;p14"/>
          <p:cNvSpPr/>
          <p:nvPr/>
        </p:nvSpPr>
        <p:spPr>
          <a:xfrm>
            <a:off x="8083425" y="3641755"/>
            <a:ext cx="5414400" cy="10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974"/>
              <a:buFont typeface="PT Sans"/>
              <a:buNone/>
            </a:pPr>
            <a:br>
              <a:rPr lang="en-US" sz="1973" b="1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en-US" sz="1973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Production-ready accuracy:</a:t>
            </a:r>
            <a:r>
              <a:rPr lang="en-US" sz="1973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85-90% of generated test cases require minimal or no editing before execution.</a:t>
            </a:r>
            <a:endParaRPr sz="1973" b="0" i="0" u="none" strike="noStrike" cap="none"/>
          </a:p>
        </p:txBody>
      </p:sp>
      <p:sp>
        <p:nvSpPr>
          <p:cNvPr id="167" name="Google Shape;167;p14"/>
          <p:cNvSpPr/>
          <p:nvPr/>
        </p:nvSpPr>
        <p:spPr>
          <a:xfrm>
            <a:off x="695800" y="5498883"/>
            <a:ext cx="2650200" cy="1152600"/>
          </a:xfrm>
          <a:prstGeom prst="roundRect">
            <a:avLst>
              <a:gd name="adj" fmla="val 21929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888024" y="5691107"/>
            <a:ext cx="2165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Full End-to-End System</a:t>
            </a:r>
            <a:endParaRPr sz="1558" b="0" i="0" u="none" strike="noStrike" cap="none"/>
          </a:p>
        </p:txBody>
      </p:sp>
      <p:sp>
        <p:nvSpPr>
          <p:cNvPr id="169" name="Google Shape;169;p14"/>
          <p:cNvSpPr/>
          <p:nvPr/>
        </p:nvSpPr>
        <p:spPr>
          <a:xfrm>
            <a:off x="888024" y="6007274"/>
            <a:ext cx="2265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Completely functional and tested</a:t>
            </a:r>
            <a:endParaRPr sz="1298" b="0" i="0" u="none" strike="noStrike" cap="none"/>
          </a:p>
        </p:txBody>
      </p:sp>
      <p:sp>
        <p:nvSpPr>
          <p:cNvPr id="170" name="Google Shape;170;p14"/>
          <p:cNvSpPr/>
          <p:nvPr/>
        </p:nvSpPr>
        <p:spPr>
          <a:xfrm>
            <a:off x="3459914" y="5498883"/>
            <a:ext cx="2650200" cy="1152600"/>
          </a:xfrm>
          <a:prstGeom prst="roundRect">
            <a:avLst>
              <a:gd name="adj" fmla="val 21929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018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3652138" y="5691107"/>
            <a:ext cx="1982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Streamlit Interface</a:t>
            </a:r>
            <a:endParaRPr sz="1558" b="0" i="0" u="none" strike="noStrike" cap="none"/>
          </a:p>
        </p:txBody>
      </p:sp>
      <p:sp>
        <p:nvSpPr>
          <p:cNvPr id="172" name="Google Shape;172;p14"/>
          <p:cNvSpPr/>
          <p:nvPr/>
        </p:nvSpPr>
        <p:spPr>
          <a:xfrm>
            <a:off x="3652138" y="6007274"/>
            <a:ext cx="2265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Intuitive web-based UI</a:t>
            </a:r>
            <a:endParaRPr sz="1298" b="0" i="0" u="none" strike="noStrike" cap="none"/>
          </a:p>
        </p:txBody>
      </p:sp>
      <p:sp>
        <p:nvSpPr>
          <p:cNvPr id="173" name="Google Shape;173;p14"/>
          <p:cNvSpPr/>
          <p:nvPr/>
        </p:nvSpPr>
        <p:spPr>
          <a:xfrm>
            <a:off x="6224154" y="5498883"/>
            <a:ext cx="2650200" cy="1152600"/>
          </a:xfrm>
          <a:prstGeom prst="roundRect">
            <a:avLst>
              <a:gd name="adj" fmla="val 21929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6416377" y="5691107"/>
            <a:ext cx="1982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Real-Time Tracking</a:t>
            </a:r>
            <a:endParaRPr sz="1558" b="0" i="0" u="none" strike="noStrike" cap="none"/>
          </a:p>
        </p:txBody>
      </p:sp>
      <p:sp>
        <p:nvSpPr>
          <p:cNvPr id="175" name="Google Shape;175;p14"/>
          <p:cNvSpPr/>
          <p:nvPr/>
        </p:nvSpPr>
        <p:spPr>
          <a:xfrm>
            <a:off x="6416377" y="6007274"/>
            <a:ext cx="2265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Watch agents work autonomously</a:t>
            </a:r>
            <a:endParaRPr sz="1298" b="0" i="0" u="none" strike="noStrike" cap="none"/>
          </a:p>
        </p:txBody>
      </p:sp>
      <p:sp>
        <p:nvSpPr>
          <p:cNvPr id="176" name="Google Shape;176;p14"/>
          <p:cNvSpPr/>
          <p:nvPr/>
        </p:nvSpPr>
        <p:spPr>
          <a:xfrm>
            <a:off x="8988268" y="5498883"/>
            <a:ext cx="2650200" cy="1152600"/>
          </a:xfrm>
          <a:prstGeom prst="roundRect">
            <a:avLst>
              <a:gd name="adj" fmla="val 21929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9180493" y="5691107"/>
            <a:ext cx="1982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Professional Export</a:t>
            </a:r>
            <a:endParaRPr sz="1558" b="0" i="0" u="none" strike="noStrike" cap="none"/>
          </a:p>
        </p:txBody>
      </p:sp>
      <p:sp>
        <p:nvSpPr>
          <p:cNvPr id="178" name="Google Shape;178;p14"/>
          <p:cNvSpPr/>
          <p:nvPr/>
        </p:nvSpPr>
        <p:spPr>
          <a:xfrm>
            <a:off x="9180493" y="6007274"/>
            <a:ext cx="2265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Excel format for any tool</a:t>
            </a:r>
            <a:endParaRPr sz="1298" b="0" i="0" u="none" strike="noStrike" cap="none"/>
          </a:p>
        </p:txBody>
      </p:sp>
      <p:sp>
        <p:nvSpPr>
          <p:cNvPr id="179" name="Google Shape;179;p14"/>
          <p:cNvSpPr/>
          <p:nvPr/>
        </p:nvSpPr>
        <p:spPr>
          <a:xfrm>
            <a:off x="695800" y="6765532"/>
            <a:ext cx="5414400" cy="926700"/>
          </a:xfrm>
          <a:prstGeom prst="roundRect">
            <a:avLst>
              <a:gd name="adj" fmla="val 27277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DA33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888024" y="6957756"/>
            <a:ext cx="1982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Sample Tickets</a:t>
            </a:r>
            <a:endParaRPr sz="1558" b="0" i="0" u="none" strike="noStrike" cap="none"/>
          </a:p>
        </p:txBody>
      </p:sp>
      <p:sp>
        <p:nvSpPr>
          <p:cNvPr id="181" name="Google Shape;181;p14"/>
          <p:cNvSpPr/>
          <p:nvPr/>
        </p:nvSpPr>
        <p:spPr>
          <a:xfrm>
            <a:off x="888024" y="7273923"/>
            <a:ext cx="50298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Bug, feature, and API scenarios</a:t>
            </a:r>
            <a:endParaRPr sz="1298" b="0" i="0" u="none" strike="noStrike" cap="none"/>
          </a:p>
        </p:txBody>
      </p:sp>
      <p:sp>
        <p:nvSpPr>
          <p:cNvPr id="182" name="Google Shape;182;p14"/>
          <p:cNvSpPr/>
          <p:nvPr/>
        </p:nvSpPr>
        <p:spPr>
          <a:xfrm>
            <a:off x="6224154" y="6765532"/>
            <a:ext cx="5414400" cy="926700"/>
          </a:xfrm>
          <a:prstGeom prst="roundRect">
            <a:avLst>
              <a:gd name="adj" fmla="val 27277"/>
            </a:avLst>
          </a:prstGeom>
          <a:solidFill>
            <a:srgbClr val="F3F3FF">
              <a:alpha val="74901"/>
            </a:srgbClr>
          </a:solidFill>
          <a:ln w="23750" cap="flat" cmpd="sng">
            <a:solidFill>
              <a:srgbClr val="DA33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6416377" y="6957756"/>
            <a:ext cx="1982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558"/>
              <a:buFont typeface="Nunito"/>
              <a:buNone/>
            </a:pPr>
            <a:r>
              <a:rPr lang="en-US" sz="155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Deploy Today</a:t>
            </a:r>
            <a:endParaRPr sz="1558" b="0" i="0" u="none" strike="noStrike" cap="none"/>
          </a:p>
        </p:txBody>
      </p:sp>
      <p:sp>
        <p:nvSpPr>
          <p:cNvPr id="184" name="Google Shape;184;p14"/>
          <p:cNvSpPr/>
          <p:nvPr/>
        </p:nvSpPr>
        <p:spPr>
          <a:xfrm>
            <a:off x="6416377" y="7273923"/>
            <a:ext cx="50298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99"/>
              <a:buFont typeface="PT Sans"/>
              <a:buNone/>
            </a:pPr>
            <a:r>
              <a:rPr lang="en-US" sz="1298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Production-ready infrastructure</a:t>
            </a:r>
            <a:endParaRPr sz="1298" b="0" i="0" u="none" strike="noStrike" cap="none"/>
          </a:p>
        </p:txBody>
      </p:sp>
      <p:sp>
        <p:nvSpPr>
          <p:cNvPr id="185" name="Google Shape;185;p14"/>
          <p:cNvSpPr/>
          <p:nvPr/>
        </p:nvSpPr>
        <p:spPr>
          <a:xfrm>
            <a:off x="12743704" y="7692231"/>
            <a:ext cx="1886700" cy="602400"/>
          </a:xfrm>
          <a:prstGeom prst="rect">
            <a:avLst/>
          </a:prstGeom>
          <a:solidFill>
            <a:srgbClr val="F3F3FF"/>
          </a:solidFill>
          <a:ln w="9900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975" tIns="94975" rIns="94975" bIns="94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4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/>
          <p:nvPr/>
        </p:nvSpPr>
        <p:spPr>
          <a:xfrm>
            <a:off x="603825" y="498525"/>
            <a:ext cx="51366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100"/>
              <a:buFont typeface="Nunito"/>
              <a:buNone/>
            </a:pPr>
            <a:r>
              <a:rPr lang="en-US" sz="31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Measurable Business Impact</a:t>
            </a:r>
            <a:endParaRPr sz="3100" b="0" i="0" u="none" strike="noStrike" cap="none"/>
          </a:p>
        </p:txBody>
      </p:sp>
      <p:sp>
        <p:nvSpPr>
          <p:cNvPr id="192" name="Google Shape;192;p15"/>
          <p:cNvSpPr/>
          <p:nvPr/>
        </p:nvSpPr>
        <p:spPr>
          <a:xfrm>
            <a:off x="603825" y="1227762"/>
            <a:ext cx="1198200" cy="283200"/>
          </a:xfrm>
          <a:prstGeom prst="roundRect">
            <a:avLst>
              <a:gd name="adj" fmla="val 71122"/>
            </a:avLst>
          </a:prstGeom>
          <a:solidFill>
            <a:srgbClr val="CFD6FC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" name="Google Shape;19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447" y="1302305"/>
            <a:ext cx="134201" cy="13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/>
          <p:nvPr/>
        </p:nvSpPr>
        <p:spPr>
          <a:xfrm>
            <a:off x="862830" y="1292300"/>
            <a:ext cx="1209637" cy="26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50"/>
              <a:buFont typeface="PT Sans"/>
              <a:buNone/>
            </a:pPr>
            <a:r>
              <a:rPr lang="en-US" sz="1050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ROI ANALYSIS</a:t>
            </a:r>
            <a:endParaRPr sz="1050" b="0" i="0" u="none" strike="noStrike" cap="none"/>
          </a:p>
        </p:txBody>
      </p:sp>
      <p:sp>
        <p:nvSpPr>
          <p:cNvPr id="195" name="Google Shape;195;p15"/>
          <p:cNvSpPr/>
          <p:nvPr/>
        </p:nvSpPr>
        <p:spPr>
          <a:xfrm>
            <a:off x="905700" y="1860250"/>
            <a:ext cx="29682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938"/>
              <a:buFont typeface="Nunito"/>
              <a:buNone/>
            </a:pPr>
            <a:r>
              <a:rPr lang="en-US" sz="4937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95%</a:t>
            </a:r>
            <a:endParaRPr sz="4937" b="0" i="0" u="none" strike="noStrike" cap="none"/>
          </a:p>
        </p:txBody>
      </p:sp>
      <p:sp>
        <p:nvSpPr>
          <p:cNvPr id="196" name="Google Shape;196;p15"/>
          <p:cNvSpPr/>
          <p:nvPr/>
        </p:nvSpPr>
        <p:spPr>
          <a:xfrm>
            <a:off x="1268969" y="2684225"/>
            <a:ext cx="2241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Time Reduction</a:t>
            </a:r>
            <a:endParaRPr sz="1759" b="0" i="0" u="none" strike="noStrike" cap="none"/>
          </a:p>
        </p:txBody>
      </p:sp>
      <p:sp>
        <p:nvSpPr>
          <p:cNvPr id="197" name="Google Shape;197;p15"/>
          <p:cNvSpPr/>
          <p:nvPr/>
        </p:nvSpPr>
        <p:spPr>
          <a:xfrm>
            <a:off x="905700" y="3044521"/>
            <a:ext cx="29682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From 2-3 hours to 9 minutes per ticket</a:t>
            </a:r>
            <a:endParaRPr sz="1475" b="0" i="0" u="none" strike="noStrike" cap="none"/>
          </a:p>
        </p:txBody>
      </p:sp>
      <p:sp>
        <p:nvSpPr>
          <p:cNvPr id="198" name="Google Shape;198;p15"/>
          <p:cNvSpPr/>
          <p:nvPr/>
        </p:nvSpPr>
        <p:spPr>
          <a:xfrm>
            <a:off x="4041055" y="1860250"/>
            <a:ext cx="296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938"/>
              <a:buFont typeface="Nunito"/>
              <a:buNone/>
            </a:pPr>
            <a:r>
              <a:rPr lang="en-US" sz="4937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125</a:t>
            </a:r>
            <a:endParaRPr sz="4937" b="0" i="0" u="none" strike="noStrike" cap="none"/>
          </a:p>
        </p:txBody>
      </p:sp>
      <p:sp>
        <p:nvSpPr>
          <p:cNvPr id="199" name="Google Shape;199;p15"/>
          <p:cNvSpPr/>
          <p:nvPr/>
        </p:nvSpPr>
        <p:spPr>
          <a:xfrm>
            <a:off x="4404323" y="2684225"/>
            <a:ext cx="2241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Hours Saved</a:t>
            </a:r>
            <a:endParaRPr sz="1759" b="0" i="0" u="none" strike="noStrike" cap="none"/>
          </a:p>
        </p:txBody>
      </p:sp>
      <p:sp>
        <p:nvSpPr>
          <p:cNvPr id="200" name="Google Shape;200;p15"/>
          <p:cNvSpPr/>
          <p:nvPr/>
        </p:nvSpPr>
        <p:spPr>
          <a:xfrm>
            <a:off x="4041055" y="3044521"/>
            <a:ext cx="29685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Per sprint for a 5-person QA team</a:t>
            </a:r>
            <a:endParaRPr sz="1475" b="0" i="0" u="none" strike="noStrike" cap="none"/>
          </a:p>
        </p:txBody>
      </p:sp>
      <p:sp>
        <p:nvSpPr>
          <p:cNvPr id="201" name="Google Shape;201;p15"/>
          <p:cNvSpPr/>
          <p:nvPr/>
        </p:nvSpPr>
        <p:spPr>
          <a:xfrm>
            <a:off x="7176545" y="1860250"/>
            <a:ext cx="29682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938"/>
              <a:buFont typeface="Nunito"/>
              <a:buNone/>
            </a:pPr>
            <a:r>
              <a:rPr lang="en-US" sz="4937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$81K</a:t>
            </a:r>
            <a:endParaRPr sz="4937" b="0" i="0" u="none" strike="noStrike" cap="none"/>
          </a:p>
        </p:txBody>
      </p:sp>
      <p:sp>
        <p:nvSpPr>
          <p:cNvPr id="202" name="Google Shape;202;p15"/>
          <p:cNvSpPr/>
          <p:nvPr/>
        </p:nvSpPr>
        <p:spPr>
          <a:xfrm>
            <a:off x="7539813" y="2684225"/>
            <a:ext cx="2241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Annual Savings</a:t>
            </a:r>
            <a:endParaRPr sz="1759" b="0" i="0" u="none" strike="noStrike" cap="none"/>
          </a:p>
        </p:txBody>
      </p:sp>
      <p:sp>
        <p:nvSpPr>
          <p:cNvPr id="203" name="Google Shape;203;p15"/>
          <p:cNvSpPr/>
          <p:nvPr/>
        </p:nvSpPr>
        <p:spPr>
          <a:xfrm>
            <a:off x="7176545" y="3044521"/>
            <a:ext cx="29682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Per team after API costs</a:t>
            </a:r>
            <a:endParaRPr sz="1475" b="0" i="0" u="none" strike="noStrike" cap="none"/>
          </a:p>
        </p:txBody>
      </p:sp>
      <p:sp>
        <p:nvSpPr>
          <p:cNvPr id="204" name="Google Shape;204;p15"/>
          <p:cNvSpPr/>
          <p:nvPr/>
        </p:nvSpPr>
        <p:spPr>
          <a:xfrm>
            <a:off x="10311899" y="1860250"/>
            <a:ext cx="296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938"/>
              <a:buFont typeface="Nunito"/>
              <a:buNone/>
            </a:pPr>
            <a:r>
              <a:rPr lang="en-US" sz="4937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6,671%</a:t>
            </a:r>
            <a:endParaRPr sz="4937" b="0" i="0" u="none" strike="noStrike" cap="none"/>
          </a:p>
        </p:txBody>
      </p:sp>
      <p:sp>
        <p:nvSpPr>
          <p:cNvPr id="205" name="Google Shape;205;p15"/>
          <p:cNvSpPr/>
          <p:nvPr/>
        </p:nvSpPr>
        <p:spPr>
          <a:xfrm>
            <a:off x="10675168" y="2684225"/>
            <a:ext cx="2241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Return on Investment</a:t>
            </a:r>
            <a:endParaRPr sz="1759" b="0" i="0" u="none" strike="noStrike" cap="none"/>
          </a:p>
        </p:txBody>
      </p:sp>
      <p:sp>
        <p:nvSpPr>
          <p:cNvPr id="206" name="Google Shape;206;p15"/>
          <p:cNvSpPr/>
          <p:nvPr/>
        </p:nvSpPr>
        <p:spPr>
          <a:xfrm>
            <a:off x="10311899" y="3044521"/>
            <a:ext cx="29685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First-year ROI including implementation</a:t>
            </a:r>
            <a:endParaRPr sz="1475" b="0" i="0" u="none" strike="noStrike" cap="none"/>
          </a:p>
        </p:txBody>
      </p:sp>
      <p:sp>
        <p:nvSpPr>
          <p:cNvPr id="207" name="Google Shape;207;p15"/>
          <p:cNvSpPr/>
          <p:nvPr/>
        </p:nvSpPr>
        <p:spPr>
          <a:xfrm>
            <a:off x="905700" y="3763624"/>
            <a:ext cx="27186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09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Quality Improvements</a:t>
            </a:r>
            <a:endParaRPr sz="2099" b="0" i="0" u="none" strike="noStrike" cap="none"/>
          </a:p>
        </p:txBody>
      </p:sp>
      <p:sp>
        <p:nvSpPr>
          <p:cNvPr id="208" name="Google Shape;208;p15"/>
          <p:cNvSpPr/>
          <p:nvPr/>
        </p:nvSpPr>
        <p:spPr>
          <a:xfrm>
            <a:off x="905700" y="4395424"/>
            <a:ext cx="3361800" cy="238200"/>
          </a:xfrm>
          <a:prstGeom prst="roundRect">
            <a:avLst>
              <a:gd name="adj" fmla="val 120034"/>
            </a:avLst>
          </a:prstGeom>
          <a:solidFill>
            <a:srgbClr val="F3F3FF"/>
          </a:solidFill>
          <a:ln w="1730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905700" y="4395424"/>
            <a:ext cx="1008600" cy="238200"/>
          </a:xfrm>
          <a:prstGeom prst="roundRect">
            <a:avLst>
              <a:gd name="adj" fmla="val 120034"/>
            </a:avLst>
          </a:prstGeom>
          <a:solidFill>
            <a:srgbClr val="2D4DF2"/>
          </a:solidFill>
          <a:ln>
            <a:noFill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4410539" y="4395424"/>
            <a:ext cx="5088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73"/>
              <a:buFont typeface="Nunito"/>
              <a:buNone/>
            </a:pPr>
            <a:r>
              <a:rPr lang="en-US" sz="187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30%</a:t>
            </a:r>
            <a:endParaRPr sz="1872" b="0" i="0" u="none" strike="noStrike" cap="none"/>
          </a:p>
        </p:txBody>
      </p:sp>
      <p:sp>
        <p:nvSpPr>
          <p:cNvPr id="211" name="Google Shape;211;p15"/>
          <p:cNvSpPr/>
          <p:nvPr/>
        </p:nvSpPr>
        <p:spPr>
          <a:xfrm>
            <a:off x="905700" y="4828833"/>
            <a:ext cx="2351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Test Coverage Increase</a:t>
            </a:r>
            <a:endParaRPr sz="1759" b="0" i="0" u="none" strike="noStrike" cap="none"/>
          </a:p>
        </p:txBody>
      </p:sp>
      <p:sp>
        <p:nvSpPr>
          <p:cNvPr id="212" name="Google Shape;212;p15"/>
          <p:cNvSpPr/>
          <p:nvPr/>
        </p:nvSpPr>
        <p:spPr>
          <a:xfrm>
            <a:off x="905700" y="5189129"/>
            <a:ext cx="40134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AI discovers edge cases humans miss</a:t>
            </a:r>
            <a:endParaRPr sz="1475" b="0" i="0" u="none" strike="noStrike" cap="none"/>
          </a:p>
        </p:txBody>
      </p:sp>
      <p:sp>
        <p:nvSpPr>
          <p:cNvPr id="213" name="Google Shape;213;p15"/>
          <p:cNvSpPr/>
          <p:nvPr/>
        </p:nvSpPr>
        <p:spPr>
          <a:xfrm>
            <a:off x="5086263" y="4395424"/>
            <a:ext cx="3361800" cy="238200"/>
          </a:xfrm>
          <a:prstGeom prst="roundRect">
            <a:avLst>
              <a:gd name="adj" fmla="val 120034"/>
            </a:avLst>
          </a:prstGeom>
          <a:solidFill>
            <a:srgbClr val="F3F3FF"/>
          </a:solidFill>
          <a:ln w="17300" cap="flat" cmpd="sng">
            <a:solidFill>
              <a:srgbClr val="018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5086263" y="4395424"/>
            <a:ext cx="1344600" cy="238200"/>
          </a:xfrm>
          <a:prstGeom prst="roundRect">
            <a:avLst>
              <a:gd name="adj" fmla="val 120034"/>
            </a:avLst>
          </a:prstGeom>
          <a:solidFill>
            <a:srgbClr val="018CE1"/>
          </a:solidFill>
          <a:ln>
            <a:noFill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8591103" y="4395424"/>
            <a:ext cx="5088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73"/>
              <a:buFont typeface="Nunito"/>
              <a:buNone/>
            </a:pPr>
            <a:r>
              <a:rPr lang="en-US" sz="187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40%</a:t>
            </a:r>
            <a:endParaRPr sz="1872" b="0" i="0" u="none" strike="noStrike" cap="none"/>
          </a:p>
        </p:txBody>
      </p:sp>
      <p:sp>
        <p:nvSpPr>
          <p:cNvPr id="216" name="Google Shape;216;p15"/>
          <p:cNvSpPr/>
          <p:nvPr/>
        </p:nvSpPr>
        <p:spPr>
          <a:xfrm>
            <a:off x="5086263" y="4828833"/>
            <a:ext cx="2667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Defect Leakage Reduction</a:t>
            </a:r>
            <a:endParaRPr sz="1759" b="0" i="0" u="none" strike="noStrike" cap="none"/>
          </a:p>
        </p:txBody>
      </p:sp>
      <p:sp>
        <p:nvSpPr>
          <p:cNvPr id="217" name="Google Shape;217;p15"/>
          <p:cNvSpPr/>
          <p:nvPr/>
        </p:nvSpPr>
        <p:spPr>
          <a:xfrm>
            <a:off x="5086263" y="5189129"/>
            <a:ext cx="40134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Better coverage prevents production bugs</a:t>
            </a:r>
            <a:endParaRPr sz="1475" b="0" i="0" u="none" strike="noStrike" cap="none"/>
          </a:p>
        </p:txBody>
      </p:sp>
      <p:sp>
        <p:nvSpPr>
          <p:cNvPr id="218" name="Google Shape;218;p15"/>
          <p:cNvSpPr/>
          <p:nvPr/>
        </p:nvSpPr>
        <p:spPr>
          <a:xfrm>
            <a:off x="9266825" y="4395424"/>
            <a:ext cx="3219300" cy="238200"/>
          </a:xfrm>
          <a:prstGeom prst="roundRect">
            <a:avLst>
              <a:gd name="adj" fmla="val 120034"/>
            </a:avLst>
          </a:prstGeom>
          <a:solidFill>
            <a:srgbClr val="F3F3FF"/>
          </a:solidFill>
          <a:ln w="17300" cap="flat" cmpd="sng">
            <a:solidFill>
              <a:srgbClr val="DA33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9266825" y="4395424"/>
            <a:ext cx="3219300" cy="238200"/>
          </a:xfrm>
          <a:prstGeom prst="roundRect">
            <a:avLst>
              <a:gd name="adj" fmla="val 120034"/>
            </a:avLst>
          </a:prstGeom>
          <a:solidFill>
            <a:srgbClr val="DA33BF"/>
          </a:solidFill>
          <a:ln>
            <a:noFill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12628953" y="4395424"/>
            <a:ext cx="6516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73"/>
              <a:buFont typeface="Nunito"/>
              <a:buNone/>
            </a:pPr>
            <a:r>
              <a:rPr lang="en-US" sz="187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100%</a:t>
            </a:r>
            <a:endParaRPr sz="1872" b="0" i="0" u="none" strike="noStrike" cap="none"/>
          </a:p>
        </p:txBody>
      </p:sp>
      <p:sp>
        <p:nvSpPr>
          <p:cNvPr id="221" name="Google Shape;221;p15"/>
          <p:cNvSpPr/>
          <p:nvPr/>
        </p:nvSpPr>
        <p:spPr>
          <a:xfrm>
            <a:off x="9266825" y="4828833"/>
            <a:ext cx="22419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9"/>
              <a:buFont typeface="Nunito"/>
              <a:buNone/>
            </a:pPr>
            <a:r>
              <a:rPr lang="en-US" sz="175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Team Consistency</a:t>
            </a:r>
            <a:endParaRPr sz="1759" b="0" i="0" u="none" strike="noStrike" cap="none"/>
          </a:p>
        </p:txBody>
      </p:sp>
      <p:sp>
        <p:nvSpPr>
          <p:cNvPr id="222" name="Google Shape;222;p15"/>
          <p:cNvSpPr/>
          <p:nvPr/>
        </p:nvSpPr>
        <p:spPr>
          <a:xfrm>
            <a:off x="9266825" y="5189129"/>
            <a:ext cx="40134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Standardized format across all QA engineers</a:t>
            </a:r>
            <a:endParaRPr sz="1475" b="0" i="0" u="none" strike="noStrike" cap="none"/>
          </a:p>
        </p:txBody>
      </p:sp>
      <p:sp>
        <p:nvSpPr>
          <p:cNvPr id="223" name="Google Shape;223;p15"/>
          <p:cNvSpPr/>
          <p:nvPr/>
        </p:nvSpPr>
        <p:spPr>
          <a:xfrm>
            <a:off x="905700" y="5648890"/>
            <a:ext cx="3223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100"/>
              <a:buFont typeface="Nunito"/>
              <a:buNone/>
            </a:pPr>
            <a:r>
              <a:rPr lang="en-US" sz="2099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5-Person Team Economics</a:t>
            </a:r>
            <a:endParaRPr sz="2099" b="0" i="0" u="none" strike="noStrike" cap="none"/>
          </a:p>
        </p:txBody>
      </p:sp>
      <p:sp>
        <p:nvSpPr>
          <p:cNvPr id="224" name="Google Shape;224;p15"/>
          <p:cNvSpPr/>
          <p:nvPr/>
        </p:nvSpPr>
        <p:spPr>
          <a:xfrm>
            <a:off x="905700" y="6185548"/>
            <a:ext cx="123747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50 tickets per sprint</a:t>
            </a: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typical agile velocity</a:t>
            </a:r>
            <a:endParaRPr sz="1475" b="0" i="0" u="none" strike="noStrike" cap="none"/>
          </a:p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$6,250 saved per 2-week sprint</a:t>
            </a: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at $50/hour loaded cost</a:t>
            </a:r>
            <a:endParaRPr sz="1475" b="0" i="0" u="none" strike="noStrike" cap="none"/>
          </a:p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$1,200 annual API costs</a:t>
            </a: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negligible compared to savings</a:t>
            </a:r>
            <a:endParaRPr sz="1475" b="0" i="0" u="none" strike="noStrike" cap="none"/>
          </a:p>
          <a:p>
            <a:pPr marL="0" marR="0" lvl="0" indent="0" algn="l" rtl="0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6"/>
              <a:buFont typeface="PT Sans"/>
              <a:buNone/>
            </a:pPr>
            <a:r>
              <a:rPr lang="en-US" sz="1475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Value from day one</a:t>
            </a:r>
            <a:r>
              <a:rPr lang="en-US" sz="1475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no training period required</a:t>
            </a:r>
            <a:endParaRPr sz="1475" b="0" i="0" u="none" strike="noStrike" cap="none"/>
          </a:p>
        </p:txBody>
      </p:sp>
      <p:sp>
        <p:nvSpPr>
          <p:cNvPr id="225" name="Google Shape;225;p15"/>
          <p:cNvSpPr/>
          <p:nvPr/>
        </p:nvSpPr>
        <p:spPr>
          <a:xfrm>
            <a:off x="12486137" y="7571411"/>
            <a:ext cx="2061000" cy="658200"/>
          </a:xfrm>
          <a:prstGeom prst="rect">
            <a:avLst/>
          </a:prstGeom>
          <a:solidFill>
            <a:srgbClr val="F3F3FF"/>
          </a:solidFill>
          <a:ln w="108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775" tIns="103775" rIns="103775" bIns="103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9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/>
          <p:nvPr/>
        </p:nvSpPr>
        <p:spPr>
          <a:xfrm>
            <a:off x="456100" y="385925"/>
            <a:ext cx="41634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262"/>
              <a:buFont typeface="Nunito"/>
              <a:buNone/>
            </a:pPr>
            <a:r>
              <a:rPr lang="en-US" sz="3262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Strategic Roadmap</a:t>
            </a:r>
            <a:endParaRPr sz="3262" b="0" i="0" u="none" strike="noStrike" cap="none"/>
          </a:p>
        </p:txBody>
      </p:sp>
      <p:sp>
        <p:nvSpPr>
          <p:cNvPr id="232" name="Google Shape;232;p16"/>
          <p:cNvSpPr/>
          <p:nvPr/>
        </p:nvSpPr>
        <p:spPr>
          <a:xfrm>
            <a:off x="456100" y="1098826"/>
            <a:ext cx="1870500" cy="301800"/>
          </a:xfrm>
          <a:prstGeom prst="roundRect">
            <a:avLst>
              <a:gd name="adj" fmla="val 70387"/>
            </a:avLst>
          </a:prstGeom>
          <a:noFill/>
          <a:ln w="1295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275" tIns="124275" rIns="124275" bIns="12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624" y="1178936"/>
            <a:ext cx="141447" cy="14144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/>
          <p:nvPr/>
        </p:nvSpPr>
        <p:spPr>
          <a:xfrm>
            <a:off x="784794" y="1162266"/>
            <a:ext cx="1425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087"/>
              <a:buFont typeface="PT Sans"/>
              <a:buNone/>
            </a:pPr>
            <a:r>
              <a:rPr lang="en-US" sz="1087" b="0" i="0" u="none" strike="noStrike" cap="none">
                <a:solidFill>
                  <a:srgbClr val="2D4DF2"/>
                </a:solidFill>
                <a:latin typeface="PT Sans"/>
                <a:ea typeface="PT Sans"/>
                <a:cs typeface="PT Sans"/>
                <a:sym typeface="PT Sans"/>
              </a:rPr>
              <a:t>MARKET FIT &amp; FUTURE</a:t>
            </a:r>
            <a:endParaRPr sz="1087" b="0" i="0" u="none" strike="noStrike" cap="none"/>
          </a:p>
        </p:txBody>
      </p:sp>
      <p:sp>
        <p:nvSpPr>
          <p:cNvPr id="235" name="Google Shape;235;p16"/>
          <p:cNvSpPr/>
          <p:nvPr/>
        </p:nvSpPr>
        <p:spPr>
          <a:xfrm>
            <a:off x="1922100" y="1770450"/>
            <a:ext cx="44310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Target Market</a:t>
            </a:r>
            <a:r>
              <a:rPr lang="en-US" sz="1700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: 5M+ QA Engineers Globally</a:t>
            </a:r>
            <a:endParaRPr sz="1700" b="0" i="0" u="none" strike="noStrike" cap="none"/>
          </a:p>
        </p:txBody>
      </p:sp>
      <p:pic>
        <p:nvPicPr>
          <p:cNvPr id="236" name="Google Shape;23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2100" y="2147921"/>
            <a:ext cx="1462789" cy="82452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/>
          <p:nvPr/>
        </p:nvSpPr>
        <p:spPr>
          <a:xfrm>
            <a:off x="1922100" y="3071863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Fintech</a:t>
            </a:r>
            <a:endParaRPr sz="1478" b="0" i="0" u="none" strike="noStrike" cap="none"/>
          </a:p>
        </p:txBody>
      </p:sp>
      <p:sp>
        <p:nvSpPr>
          <p:cNvPr id="238" name="Google Shape;238;p16"/>
          <p:cNvSpPr/>
          <p:nvPr/>
        </p:nvSpPr>
        <p:spPr>
          <a:xfrm>
            <a:off x="1922100" y="3334526"/>
            <a:ext cx="25221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Regulatory compliance and risk testing requirements</a:t>
            </a:r>
            <a:endParaRPr sz="1232" b="0" i="0" u="none" strike="noStrike" cap="none"/>
          </a:p>
        </p:txBody>
      </p:sp>
      <p:pic>
        <p:nvPicPr>
          <p:cNvPr id="239" name="Google Shape;239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3393" y="2147921"/>
            <a:ext cx="1462937" cy="82465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4553393" y="3071996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Healthcare</a:t>
            </a:r>
            <a:endParaRPr sz="1478" b="0" i="0" u="none" strike="noStrike" cap="none"/>
          </a:p>
        </p:txBody>
      </p:sp>
      <p:sp>
        <p:nvSpPr>
          <p:cNvPr id="241" name="Google Shape;241;p16"/>
          <p:cNvSpPr/>
          <p:nvPr/>
        </p:nvSpPr>
        <p:spPr>
          <a:xfrm>
            <a:off x="4553393" y="3334661"/>
            <a:ext cx="25224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FDA documentation and validation standards</a:t>
            </a:r>
            <a:endParaRPr sz="1232" b="0" i="0" u="none" strike="noStrike" cap="none"/>
          </a:p>
        </p:txBody>
      </p:sp>
      <p:pic>
        <p:nvPicPr>
          <p:cNvPr id="242" name="Google Shape;242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84833" y="2147921"/>
            <a:ext cx="1462789" cy="82452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6"/>
          <p:cNvSpPr/>
          <p:nvPr/>
        </p:nvSpPr>
        <p:spPr>
          <a:xfrm>
            <a:off x="7184833" y="3071863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E-Commerce</a:t>
            </a:r>
            <a:endParaRPr sz="1478" b="0" i="0" u="none" strike="noStrike" cap="none"/>
          </a:p>
        </p:txBody>
      </p:sp>
      <p:sp>
        <p:nvSpPr>
          <p:cNvPr id="244" name="Google Shape;244;p16"/>
          <p:cNvSpPr/>
          <p:nvPr/>
        </p:nvSpPr>
        <p:spPr>
          <a:xfrm>
            <a:off x="7184833" y="3334526"/>
            <a:ext cx="25221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High-velocity releases with zero downtime</a:t>
            </a:r>
            <a:endParaRPr sz="1232" b="0" i="0" u="none" strike="noStrike" cap="none"/>
          </a:p>
        </p:txBody>
      </p:sp>
      <p:pic>
        <p:nvPicPr>
          <p:cNvPr id="245" name="Google Shape;245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6127" y="2147921"/>
            <a:ext cx="1462937" cy="82465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/>
          <p:nvPr/>
        </p:nvSpPr>
        <p:spPr>
          <a:xfrm>
            <a:off x="9816127" y="3071996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Enterprise SaaS</a:t>
            </a:r>
            <a:endParaRPr sz="1478" b="0" i="0" u="none" strike="noStrike" cap="none"/>
          </a:p>
        </p:txBody>
      </p:sp>
      <p:sp>
        <p:nvSpPr>
          <p:cNvPr id="247" name="Google Shape;247;p16"/>
          <p:cNvSpPr/>
          <p:nvPr/>
        </p:nvSpPr>
        <p:spPr>
          <a:xfrm>
            <a:off x="9816127" y="3334661"/>
            <a:ext cx="25224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Complex integration and multi-tenant scenarios</a:t>
            </a:r>
            <a:endParaRPr sz="1232" b="0" i="0" u="none" strike="noStrike" cap="none"/>
          </a:p>
        </p:txBody>
      </p:sp>
      <p:sp>
        <p:nvSpPr>
          <p:cNvPr id="248" name="Google Shape;248;p16"/>
          <p:cNvSpPr/>
          <p:nvPr/>
        </p:nvSpPr>
        <p:spPr>
          <a:xfrm>
            <a:off x="1907812" y="3986346"/>
            <a:ext cx="27012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00" b="1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Future Innovation Pipeline</a:t>
            </a:r>
            <a:endParaRPr lang="en-US" sz="1700" b="1" i="0" u="none" strike="noStrike" cap="none"/>
          </a:p>
        </p:txBody>
      </p:sp>
      <p:sp>
        <p:nvSpPr>
          <p:cNvPr id="249" name="Google Shape;249;p16"/>
          <p:cNvSpPr/>
          <p:nvPr/>
        </p:nvSpPr>
        <p:spPr>
          <a:xfrm>
            <a:off x="7106582" y="4363817"/>
            <a:ext cx="18900" cy="3344400"/>
          </a:xfrm>
          <a:prstGeom prst="roundRect">
            <a:avLst>
              <a:gd name="adj" fmla="val 1281270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6473112" y="4519837"/>
            <a:ext cx="481500" cy="17100"/>
          </a:xfrm>
          <a:prstGeom prst="roundRect">
            <a:avLst>
              <a:gd name="adj" fmla="val 1281270"/>
            </a:avLst>
          </a:prstGeom>
          <a:solidFill>
            <a:srgbClr val="2D4DF2"/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6935526" y="4363817"/>
            <a:ext cx="360900" cy="329100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8775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7002790" y="4399343"/>
            <a:ext cx="2265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725" b="0" i="0" u="none" strike="noStrike" cap="none"/>
          </a:p>
        </p:txBody>
      </p:sp>
      <p:sp>
        <p:nvSpPr>
          <p:cNvPr id="253" name="Google Shape;253;p16"/>
          <p:cNvSpPr/>
          <p:nvPr/>
        </p:nvSpPr>
        <p:spPr>
          <a:xfrm>
            <a:off x="4144910" y="4413995"/>
            <a:ext cx="2169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Q1: Seamless Integration</a:t>
            </a:r>
            <a:endParaRPr sz="1478" b="0" i="0" u="none" strike="noStrike" cap="none"/>
          </a:p>
        </p:txBody>
      </p:sp>
      <p:sp>
        <p:nvSpPr>
          <p:cNvPr id="254" name="Google Shape;254;p16"/>
          <p:cNvSpPr/>
          <p:nvPr/>
        </p:nvSpPr>
        <p:spPr>
          <a:xfrm>
            <a:off x="1907812" y="4676659"/>
            <a:ext cx="44061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Auto-sync with Jira/Azure DevOps—one-click deployment</a:t>
            </a:r>
            <a:endParaRPr sz="1232" b="0" i="0" u="none" strike="noStrike" cap="none"/>
          </a:p>
        </p:txBody>
      </p:sp>
      <p:sp>
        <p:nvSpPr>
          <p:cNvPr id="255" name="Google Shape;255;p16"/>
          <p:cNvSpPr/>
          <p:nvPr/>
        </p:nvSpPr>
        <p:spPr>
          <a:xfrm>
            <a:off x="7277640" y="5264075"/>
            <a:ext cx="481500" cy="17100"/>
          </a:xfrm>
          <a:prstGeom prst="roundRect">
            <a:avLst>
              <a:gd name="adj" fmla="val 1281270"/>
            </a:avLst>
          </a:prstGeom>
          <a:solidFill>
            <a:srgbClr val="018CE1"/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6935526" y="5108055"/>
            <a:ext cx="360900" cy="329100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8775" cap="flat" cmpd="sng">
            <a:solidFill>
              <a:srgbClr val="018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7002790" y="5143581"/>
            <a:ext cx="2265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725" b="0" i="0" u="none" strike="noStrike" cap="none"/>
          </a:p>
        </p:txBody>
      </p:sp>
      <p:sp>
        <p:nvSpPr>
          <p:cNvPr id="258" name="Google Shape;258;p16"/>
          <p:cNvSpPr/>
          <p:nvPr/>
        </p:nvSpPr>
        <p:spPr>
          <a:xfrm>
            <a:off x="7917859" y="5158233"/>
            <a:ext cx="2077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Q2: Marketplace Launch</a:t>
            </a:r>
            <a:endParaRPr sz="1478" b="0" i="0" u="none" strike="noStrike" cap="none"/>
          </a:p>
        </p:txBody>
      </p:sp>
      <p:sp>
        <p:nvSpPr>
          <p:cNvPr id="259" name="Google Shape;259;p16"/>
          <p:cNvSpPr/>
          <p:nvPr/>
        </p:nvSpPr>
        <p:spPr>
          <a:xfrm>
            <a:off x="7917859" y="5420897"/>
            <a:ext cx="44067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Atlassian and Microsoft marketplace listings</a:t>
            </a:r>
            <a:endParaRPr sz="1232" b="0" i="0" u="none" strike="noStrike" cap="none"/>
          </a:p>
        </p:txBody>
      </p:sp>
      <p:sp>
        <p:nvSpPr>
          <p:cNvPr id="260" name="Google Shape;260;p16"/>
          <p:cNvSpPr/>
          <p:nvPr/>
        </p:nvSpPr>
        <p:spPr>
          <a:xfrm>
            <a:off x="6473112" y="5953853"/>
            <a:ext cx="481500" cy="17100"/>
          </a:xfrm>
          <a:prstGeom prst="roundRect">
            <a:avLst>
              <a:gd name="adj" fmla="val 1281270"/>
            </a:avLst>
          </a:prstGeom>
          <a:solidFill>
            <a:srgbClr val="DA33BF"/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6935526" y="5797833"/>
            <a:ext cx="360900" cy="329100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8775" cap="flat" cmpd="sng">
            <a:solidFill>
              <a:srgbClr val="DA33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7002790" y="5833359"/>
            <a:ext cx="2265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725" b="0" i="0" u="none" strike="noStrike" cap="none"/>
          </a:p>
        </p:txBody>
      </p:sp>
      <p:sp>
        <p:nvSpPr>
          <p:cNvPr id="263" name="Google Shape;263;p16"/>
          <p:cNvSpPr/>
          <p:nvPr/>
        </p:nvSpPr>
        <p:spPr>
          <a:xfrm>
            <a:off x="4427169" y="5848010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Q3: Auto-Execution</a:t>
            </a:r>
            <a:endParaRPr sz="1478" b="0" i="0" u="none" strike="noStrike" cap="none"/>
          </a:p>
        </p:txBody>
      </p:sp>
      <p:sp>
        <p:nvSpPr>
          <p:cNvPr id="264" name="Google Shape;264;p16"/>
          <p:cNvSpPr/>
          <p:nvPr/>
        </p:nvSpPr>
        <p:spPr>
          <a:xfrm>
            <a:off x="1907812" y="6110675"/>
            <a:ext cx="44061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Selenium/Playwright integration for end-to-end automation</a:t>
            </a:r>
            <a:endParaRPr sz="1232" b="0" i="0" u="none" strike="noStrike" cap="none"/>
          </a:p>
        </p:txBody>
      </p:sp>
      <p:sp>
        <p:nvSpPr>
          <p:cNvPr id="265" name="Google Shape;265;p16"/>
          <p:cNvSpPr/>
          <p:nvPr/>
        </p:nvSpPr>
        <p:spPr>
          <a:xfrm>
            <a:off x="7277640" y="6643631"/>
            <a:ext cx="481500" cy="17100"/>
          </a:xfrm>
          <a:prstGeom prst="roundRect">
            <a:avLst>
              <a:gd name="adj" fmla="val 1281270"/>
            </a:avLst>
          </a:prstGeom>
          <a:solidFill>
            <a:srgbClr val="2D4DF2"/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6935526" y="6487611"/>
            <a:ext cx="360900" cy="329100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8775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7002790" y="6523137"/>
            <a:ext cx="2265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25"/>
              <a:buFont typeface="Nunito"/>
              <a:buNone/>
            </a:pPr>
            <a:r>
              <a:rPr lang="en-US" sz="1725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1725" b="0" i="0" u="none" strike="noStrike" cap="none"/>
          </a:p>
        </p:txBody>
      </p:sp>
      <p:sp>
        <p:nvSpPr>
          <p:cNvPr id="268" name="Google Shape;268;p16"/>
          <p:cNvSpPr/>
          <p:nvPr/>
        </p:nvSpPr>
        <p:spPr>
          <a:xfrm>
            <a:off x="7917859" y="6537789"/>
            <a:ext cx="18873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479"/>
              <a:buFont typeface="Nunito"/>
              <a:buNone/>
            </a:pPr>
            <a:r>
              <a:rPr lang="en-US" sz="1478" b="0" i="0" u="none" strike="noStrike" cap="none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Q4: Predictive Quality</a:t>
            </a:r>
            <a:endParaRPr sz="1478" b="0" i="0" u="none" strike="noStrike" cap="none"/>
          </a:p>
        </p:txBody>
      </p:sp>
      <p:sp>
        <p:nvSpPr>
          <p:cNvPr id="269" name="Google Shape;269;p16"/>
          <p:cNvSpPr/>
          <p:nvPr/>
        </p:nvSpPr>
        <p:spPr>
          <a:xfrm>
            <a:off x="7917859" y="6800453"/>
            <a:ext cx="44067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AI-powered risk analytics and self-healing tests</a:t>
            </a:r>
            <a:endParaRPr sz="1232" b="0" i="0" u="none" strike="noStrike" cap="none"/>
          </a:p>
        </p:txBody>
      </p:sp>
      <p:sp>
        <p:nvSpPr>
          <p:cNvPr id="270" name="Google Shape;270;p16"/>
          <p:cNvSpPr/>
          <p:nvPr/>
        </p:nvSpPr>
        <p:spPr>
          <a:xfrm>
            <a:off x="2148409" y="7886837"/>
            <a:ext cx="101757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32"/>
              <a:buFont typeface="PT Sans"/>
              <a:buNone/>
            </a:pPr>
            <a:r>
              <a:rPr lang="en-US" sz="1232" b="1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Mission:</a:t>
            </a:r>
            <a:r>
              <a:rPr lang="en-US" sz="1232" b="0" i="0" u="none" strike="noStrike" cap="non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Transform QA engineers from documentation machines into strategic quality leaders who focus on high-value testing and innovation.</a:t>
            </a:r>
            <a:endParaRPr sz="1232" b="0" i="0" u="none" strike="noStrike" cap="none"/>
          </a:p>
        </p:txBody>
      </p:sp>
      <p:sp>
        <p:nvSpPr>
          <p:cNvPr id="271" name="Google Shape;271;p16"/>
          <p:cNvSpPr/>
          <p:nvPr/>
        </p:nvSpPr>
        <p:spPr>
          <a:xfrm>
            <a:off x="1907812" y="7797454"/>
            <a:ext cx="18900" cy="359400"/>
          </a:xfrm>
          <a:prstGeom prst="rect">
            <a:avLst/>
          </a:prstGeom>
          <a:solidFill>
            <a:srgbClr val="2D4DF2"/>
          </a:solidFill>
          <a:ln>
            <a:noFill/>
          </a:ln>
        </p:spPr>
        <p:txBody>
          <a:bodyPr spcFirstLastPara="1" wrap="square" lIns="112650" tIns="112650" rIns="112650" bIns="112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12800263" y="7821150"/>
            <a:ext cx="1815900" cy="579900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242;p16" descr="preencoded.png">
            <a:extLst>
              <a:ext uri="{FF2B5EF4-FFF2-40B4-BE49-F238E27FC236}">
                <a16:creationId xmlns:a16="http://schemas.microsoft.com/office/drawing/2014/main" id="{E41C5123-1AAC-61B7-2314-0CCFDAA545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1319" y="2147921"/>
            <a:ext cx="1462789" cy="82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0;p12" descr="preencoded.png">
            <a:extLst>
              <a:ext uri="{FF2B5EF4-FFF2-40B4-BE49-F238E27FC236}">
                <a16:creationId xmlns:a16="http://schemas.microsoft.com/office/drawing/2014/main" id="{8F65EFAC-1726-690D-6548-6A616102D03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7216" y="1839873"/>
            <a:ext cx="185618" cy="18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0;p12" descr="preencoded.png">
            <a:extLst>
              <a:ext uri="{FF2B5EF4-FFF2-40B4-BE49-F238E27FC236}">
                <a16:creationId xmlns:a16="http://schemas.microsoft.com/office/drawing/2014/main" id="{EEBD3F5A-6794-3B24-8CDE-F64902EA1DB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7216" y="4054435"/>
            <a:ext cx="185618" cy="185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2621025" y="2430775"/>
            <a:ext cx="10046400" cy="18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1761"/>
              <a:buFont typeface="Nunito"/>
              <a:buNone/>
            </a:pPr>
            <a:r>
              <a:rPr lang="en-US" sz="11760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THANK YOU !!</a:t>
            </a:r>
            <a:endParaRPr sz="11760" b="0" i="0" u="none" strike="noStrike" cap="none"/>
          </a:p>
        </p:txBody>
      </p:sp>
      <p:sp>
        <p:nvSpPr>
          <p:cNvPr id="279" name="Google Shape;279;p17"/>
          <p:cNvSpPr/>
          <p:nvPr/>
        </p:nvSpPr>
        <p:spPr>
          <a:xfrm>
            <a:off x="4272572" y="4710729"/>
            <a:ext cx="6743400" cy="1088100"/>
          </a:xfrm>
          <a:prstGeom prst="roundRect">
            <a:avLst>
              <a:gd name="adj" fmla="val 70387"/>
            </a:avLst>
          </a:prstGeom>
          <a:noFill/>
          <a:ln w="46700" cap="flat" cmpd="sng">
            <a:solidFill>
              <a:srgbClr val="2D4D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48025" tIns="448025" rIns="448025" bIns="448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2653" y="4999535"/>
            <a:ext cx="509932" cy="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/>
          <p:nvPr/>
        </p:nvSpPr>
        <p:spPr>
          <a:xfrm>
            <a:off x="5457557" y="4939371"/>
            <a:ext cx="5558400" cy="8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3920"/>
              <a:buFont typeface="PT Sans"/>
              <a:buNone/>
            </a:pPr>
            <a:r>
              <a:rPr lang="en-US" sz="3047" u="sng">
                <a:solidFill>
                  <a:schemeClr val="hlink"/>
                </a:solidFill>
                <a:hlinkClick r:id="rId4"/>
              </a:rPr>
              <a:t>Ticket-to-Test AI · Streamlit</a:t>
            </a:r>
            <a:endParaRPr sz="5371" b="0" i="0" u="none" strike="noStrike" cap="none"/>
          </a:p>
        </p:txBody>
      </p:sp>
      <p:sp>
        <p:nvSpPr>
          <p:cNvPr id="282" name="Google Shape;282;p17"/>
          <p:cNvSpPr/>
          <p:nvPr/>
        </p:nvSpPr>
        <p:spPr>
          <a:xfrm>
            <a:off x="12814550" y="7649700"/>
            <a:ext cx="1815900" cy="579900"/>
          </a:xfrm>
          <a:prstGeom prst="rect">
            <a:avLst/>
          </a:prstGeom>
          <a:solidFill>
            <a:srgbClr val="F3F3FF"/>
          </a:solidFill>
          <a:ln w="9525" cap="flat" cmpd="sng">
            <a:solidFill>
              <a:srgbClr val="F3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76</cp:revision>
  <dcterms:modified xsi:type="dcterms:W3CDTF">2026-02-11T06:38:07Z</dcterms:modified>
</cp:coreProperties>
</file>